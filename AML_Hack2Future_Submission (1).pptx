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Lst>
  <p:notesMasterIdLst>
    <p:notesMasterId r:id="rId12"/>
  </p:notesMasterIdLst>
  <p:sldIdLst>
    <p:sldId id="2147482241" r:id="rId5"/>
    <p:sldId id="2147482259" r:id="rId6"/>
    <p:sldId id="2147482250" r:id="rId7"/>
    <p:sldId id="2147482255" r:id="rId8"/>
    <p:sldId id="2147482269" r:id="rId9"/>
    <p:sldId id="2147482268" r:id="rId10"/>
    <p:sldId id="2147482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171A8B-2443-0D6A-7831-64479511477E}" name="Srikant Dharmana (Strat1 Consulting LLC)" initials="SD" userId="S::v-srdharmana@microsoft.com::654db8d1-c988-4f4a-9b83-d6ad2cb15f77" providerId="AD"/>
  <p188:author id="{52BA4CE0-75EC-6C3D-26E7-85901897F81D}" name="Liz Torres-Ramirez" initials="LT" userId="S::lizto@microsoft.com::6743c6f5-b07c-4a63-9ece-69149996d34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D5E49"/>
    <a:srgbClr val="F2F2F2"/>
    <a:srgbClr val="F7DFD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F973E9-4054-402A-9999-33FBCF85AF5E}" v="5" dt="2026-06-09T07:29:16.4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8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deep Das" userId="61445c16-5451-44fb-838d-4736cb2eeb3c" providerId="ADAL" clId="{01AA12D1-81FB-4263-88A7-57FE904045C1}"/>
    <pc:docChg chg="modSld">
      <pc:chgData name="Rajdeep Das" userId="61445c16-5451-44fb-838d-4736cb2eeb3c" providerId="ADAL" clId="{01AA12D1-81FB-4263-88A7-57FE904045C1}" dt="2026-06-09T13:15:11.793" v="60" actId="20577"/>
      <pc:docMkLst>
        <pc:docMk/>
      </pc:docMkLst>
      <pc:sldChg chg="modSp mod">
        <pc:chgData name="Rajdeep Das" userId="61445c16-5451-44fb-838d-4736cb2eeb3c" providerId="ADAL" clId="{01AA12D1-81FB-4263-88A7-57FE904045C1}" dt="2026-06-09T13:15:11.793" v="60" actId="20577"/>
        <pc:sldMkLst>
          <pc:docMk/>
          <pc:sldMk cId="3360457477" sldId="2147482250"/>
        </pc:sldMkLst>
        <pc:spChg chg="mod">
          <ac:chgData name="Rajdeep Das" userId="61445c16-5451-44fb-838d-4736cb2eeb3c" providerId="ADAL" clId="{01AA12D1-81FB-4263-88A7-57FE904045C1}" dt="2026-06-09T13:15:11.793" v="60" actId="20577"/>
          <ac:spMkLst>
            <pc:docMk/>
            <pc:sldMk cId="3360457477" sldId="2147482250"/>
            <ac:spMk id="42" creationId="{5382D5A0-42D1-AE65-5268-904A4B061A2A}"/>
          </ac:spMkLst>
        </pc:spChg>
      </pc:sldChg>
      <pc:sldChg chg="modSp mod">
        <pc:chgData name="Rajdeep Das" userId="61445c16-5451-44fb-838d-4736cb2eeb3c" providerId="ADAL" clId="{01AA12D1-81FB-4263-88A7-57FE904045C1}" dt="2026-06-09T13:14:18.577" v="31" actId="20577"/>
        <pc:sldMkLst>
          <pc:docMk/>
          <pc:sldMk cId="3745689069" sldId="2147482257"/>
        </pc:sldMkLst>
        <pc:spChg chg="mod">
          <ac:chgData name="Rajdeep Das" userId="61445c16-5451-44fb-838d-4736cb2eeb3c" providerId="ADAL" clId="{01AA12D1-81FB-4263-88A7-57FE904045C1}" dt="2026-06-09T13:14:18.577" v="31" actId="20577"/>
          <ac:spMkLst>
            <pc:docMk/>
            <pc:sldMk cId="3745689069" sldId="2147482257"/>
            <ac:spMk id="4" creationId="{6E731104-538B-41BE-7EED-87601E3678C5}"/>
          </ac:spMkLst>
        </pc:spChg>
      </pc:sldChg>
    </pc:docChg>
  </pc:docChgLst>
  <pc:docChgLst>
    <pc:chgData name="Srikant Dharmana (Strat1 Consulting LLC)" userId="654db8d1-c988-4f4a-9b83-d6ad2cb15f77" providerId="ADAL" clId="{B4DE1DD0-0627-4530-9692-D4522E8399DE}"/>
    <pc:docChg chg="undo custSel addSld delSld modSld sldOrd">
      <pc:chgData name="Srikant Dharmana (Strat1 Consulting LLC)" userId="654db8d1-c988-4f4a-9b83-d6ad2cb15f77" providerId="ADAL" clId="{B4DE1DD0-0627-4530-9692-D4522E8399DE}" dt="2026-06-09T07:31:23.097" v="765" actId="403"/>
      <pc:docMkLst>
        <pc:docMk/>
      </pc:docMkLst>
      <pc:sldChg chg="del">
        <pc:chgData name="Srikant Dharmana (Strat1 Consulting LLC)" userId="654db8d1-c988-4f4a-9b83-d6ad2cb15f77" providerId="ADAL" clId="{B4DE1DD0-0627-4530-9692-D4522E8399DE}" dt="2026-06-09T07:02:53.697" v="572" actId="47"/>
        <pc:sldMkLst>
          <pc:docMk/>
          <pc:sldMk cId="4057228085" sldId="2147482226"/>
        </pc:sldMkLst>
      </pc:sldChg>
      <pc:sldChg chg="addSp modSp add mod ord">
        <pc:chgData name="Srikant Dharmana (Strat1 Consulting LLC)" userId="654db8d1-c988-4f4a-9b83-d6ad2cb15f77" providerId="ADAL" clId="{B4DE1DD0-0627-4530-9692-D4522E8399DE}" dt="2026-06-09T07:31:23.097" v="765" actId="403"/>
        <pc:sldMkLst>
          <pc:docMk/>
          <pc:sldMk cId="3360457477" sldId="2147482250"/>
        </pc:sldMkLst>
        <pc:spChg chg="add mod">
          <ac:chgData name="Srikant Dharmana (Strat1 Consulting LLC)" userId="654db8d1-c988-4f4a-9b83-d6ad2cb15f77" providerId="ADAL" clId="{B4DE1DD0-0627-4530-9692-D4522E8399DE}" dt="2026-06-09T06:50:42.527" v="43" actId="1076"/>
          <ac:spMkLst>
            <pc:docMk/>
            <pc:sldMk cId="3360457477" sldId="2147482250"/>
            <ac:spMk id="3" creationId="{73CF2248-BAF7-D882-50FC-F4C0B538FED1}"/>
          </ac:spMkLst>
        </pc:spChg>
        <pc:spChg chg="mod">
          <ac:chgData name="Srikant Dharmana (Strat1 Consulting LLC)" userId="654db8d1-c988-4f4a-9b83-d6ad2cb15f77" providerId="ADAL" clId="{B4DE1DD0-0627-4530-9692-D4522E8399DE}" dt="2026-06-09T06:57:15.363" v="172" actId="1036"/>
          <ac:spMkLst>
            <pc:docMk/>
            <pc:sldMk cId="3360457477" sldId="2147482250"/>
            <ac:spMk id="6" creationId="{233FD825-3E11-4A68-05C1-7E948BA5B381}"/>
          </ac:spMkLst>
        </pc:spChg>
        <pc:spChg chg="add mod">
          <ac:chgData name="Srikant Dharmana (Strat1 Consulting LLC)" userId="654db8d1-c988-4f4a-9b83-d6ad2cb15f77" providerId="ADAL" clId="{B4DE1DD0-0627-4530-9692-D4522E8399DE}" dt="2026-06-09T06:50:49.076" v="49" actId="20577"/>
          <ac:spMkLst>
            <pc:docMk/>
            <pc:sldMk cId="3360457477" sldId="2147482250"/>
            <ac:spMk id="7" creationId="{774ECB2D-8851-7FCC-3717-ACD9F2C95CF2}"/>
          </ac:spMkLst>
        </pc:spChg>
        <pc:spChg chg="add mod">
          <ac:chgData name="Srikant Dharmana (Strat1 Consulting LLC)" userId="654db8d1-c988-4f4a-9b83-d6ad2cb15f77" providerId="ADAL" clId="{B4DE1DD0-0627-4530-9692-D4522E8399DE}" dt="2026-06-09T07:31:11.072" v="763" actId="13926"/>
          <ac:spMkLst>
            <pc:docMk/>
            <pc:sldMk cId="3360457477" sldId="2147482250"/>
            <ac:spMk id="9" creationId="{DF3F9392-D654-4FD3-543C-F1889E602EF6}"/>
          </ac:spMkLst>
        </pc:spChg>
        <pc:spChg chg="mod">
          <ac:chgData name="Srikant Dharmana (Strat1 Consulting LLC)" userId="654db8d1-c988-4f4a-9b83-d6ad2cb15f77" providerId="ADAL" clId="{B4DE1DD0-0627-4530-9692-D4522E8399DE}" dt="2026-06-09T06:57:15.363" v="172" actId="1036"/>
          <ac:spMkLst>
            <pc:docMk/>
            <pc:sldMk cId="3360457477" sldId="2147482250"/>
            <ac:spMk id="10" creationId="{59C7108B-1B0E-A3BC-27AE-EBE0D4966734}"/>
          </ac:spMkLst>
        </pc:spChg>
        <pc:spChg chg="mod">
          <ac:chgData name="Srikant Dharmana (Strat1 Consulting LLC)" userId="654db8d1-c988-4f4a-9b83-d6ad2cb15f77" providerId="ADAL" clId="{B4DE1DD0-0627-4530-9692-D4522E8399DE}" dt="2026-06-09T06:57:15.363" v="172" actId="1036"/>
          <ac:spMkLst>
            <pc:docMk/>
            <pc:sldMk cId="3360457477" sldId="2147482250"/>
            <ac:spMk id="12" creationId="{1322DCED-01B3-B51F-36EB-DDC79C4D85F1}"/>
          </ac:spMkLst>
        </pc:spChg>
        <pc:spChg chg="add mod">
          <ac:chgData name="Srikant Dharmana (Strat1 Consulting LLC)" userId="654db8d1-c988-4f4a-9b83-d6ad2cb15f77" providerId="ADAL" clId="{B4DE1DD0-0627-4530-9692-D4522E8399DE}" dt="2026-06-09T06:56:58.363" v="150" actId="1076"/>
          <ac:spMkLst>
            <pc:docMk/>
            <pc:sldMk cId="3360457477" sldId="2147482250"/>
            <ac:spMk id="13" creationId="{46FBECE9-AEB9-092B-4747-DC4C1F0F0446}"/>
          </ac:spMkLst>
        </pc:spChg>
        <pc:spChg chg="mod">
          <ac:chgData name="Srikant Dharmana (Strat1 Consulting LLC)" userId="654db8d1-c988-4f4a-9b83-d6ad2cb15f77" providerId="ADAL" clId="{B4DE1DD0-0627-4530-9692-D4522E8399DE}" dt="2026-06-09T07:31:23.097" v="765" actId="403"/>
          <ac:spMkLst>
            <pc:docMk/>
            <pc:sldMk cId="3360457477" sldId="2147482250"/>
            <ac:spMk id="15" creationId="{68A96CC0-C7D4-1FEC-7316-118742A0481E}"/>
          </ac:spMkLst>
        </pc:spChg>
        <pc:spChg chg="mod">
          <ac:chgData name="Srikant Dharmana (Strat1 Consulting LLC)" userId="654db8d1-c988-4f4a-9b83-d6ad2cb15f77" providerId="ADAL" clId="{B4DE1DD0-0627-4530-9692-D4522E8399DE}" dt="2026-06-09T06:50:33.472" v="41" actId="1036"/>
          <ac:spMkLst>
            <pc:docMk/>
            <pc:sldMk cId="3360457477" sldId="2147482250"/>
            <ac:spMk id="18" creationId="{913014E0-D799-F855-1F6F-DC8613078283}"/>
          </ac:spMkLst>
        </pc:spChg>
        <pc:spChg chg="mod">
          <ac:chgData name="Srikant Dharmana (Strat1 Consulting LLC)" userId="654db8d1-c988-4f4a-9b83-d6ad2cb15f77" providerId="ADAL" clId="{B4DE1DD0-0627-4530-9692-D4522E8399DE}" dt="2026-06-09T06:50:33.472" v="41" actId="1036"/>
          <ac:spMkLst>
            <pc:docMk/>
            <pc:sldMk cId="3360457477" sldId="2147482250"/>
            <ac:spMk id="20" creationId="{CE09D91C-DF1D-C33C-8AC3-75AC3778F9F0}"/>
          </ac:spMkLst>
        </pc:spChg>
        <pc:spChg chg="mod">
          <ac:chgData name="Srikant Dharmana (Strat1 Consulting LLC)" userId="654db8d1-c988-4f4a-9b83-d6ad2cb15f77" providerId="ADAL" clId="{B4DE1DD0-0627-4530-9692-D4522E8399DE}" dt="2026-06-09T06:50:33.472" v="41" actId="1036"/>
          <ac:spMkLst>
            <pc:docMk/>
            <pc:sldMk cId="3360457477" sldId="2147482250"/>
            <ac:spMk id="22" creationId="{46D3E278-9910-869B-DD9D-32C09A639B60}"/>
          </ac:spMkLst>
        </pc:spChg>
        <pc:spChg chg="mod">
          <ac:chgData name="Srikant Dharmana (Strat1 Consulting LLC)" userId="654db8d1-c988-4f4a-9b83-d6ad2cb15f77" providerId="ADAL" clId="{B4DE1DD0-0627-4530-9692-D4522E8399DE}" dt="2026-06-09T06:50:33.472" v="41" actId="1036"/>
          <ac:spMkLst>
            <pc:docMk/>
            <pc:sldMk cId="3360457477" sldId="2147482250"/>
            <ac:spMk id="24" creationId="{F023CC46-7D0B-EB95-785F-98929939C282}"/>
          </ac:spMkLst>
        </pc:spChg>
        <pc:spChg chg="mod">
          <ac:chgData name="Srikant Dharmana (Strat1 Consulting LLC)" userId="654db8d1-c988-4f4a-9b83-d6ad2cb15f77" providerId="ADAL" clId="{B4DE1DD0-0627-4530-9692-D4522E8399DE}" dt="2026-06-09T06:50:33.472" v="41" actId="1036"/>
          <ac:spMkLst>
            <pc:docMk/>
            <pc:sldMk cId="3360457477" sldId="2147482250"/>
            <ac:spMk id="26" creationId="{77E3E6DC-AB7E-D2DA-9334-2EED11F7C89B}"/>
          </ac:spMkLst>
        </pc:spChg>
        <pc:spChg chg="mod">
          <ac:chgData name="Srikant Dharmana (Strat1 Consulting LLC)" userId="654db8d1-c988-4f4a-9b83-d6ad2cb15f77" providerId="ADAL" clId="{B4DE1DD0-0627-4530-9692-D4522E8399DE}" dt="2026-06-09T06:50:33.472" v="41" actId="1036"/>
          <ac:spMkLst>
            <pc:docMk/>
            <pc:sldMk cId="3360457477" sldId="2147482250"/>
            <ac:spMk id="28" creationId="{2B34A5E8-019D-D9C2-0C32-CEE3678056C6}"/>
          </ac:spMkLst>
        </pc:spChg>
        <pc:spChg chg="mod">
          <ac:chgData name="Srikant Dharmana (Strat1 Consulting LLC)" userId="654db8d1-c988-4f4a-9b83-d6ad2cb15f77" providerId="ADAL" clId="{B4DE1DD0-0627-4530-9692-D4522E8399DE}" dt="2026-06-09T06:50:33.472" v="41" actId="1036"/>
          <ac:spMkLst>
            <pc:docMk/>
            <pc:sldMk cId="3360457477" sldId="2147482250"/>
            <ac:spMk id="32" creationId="{9C6E5142-ACBC-2123-E21A-8F05C6B3CCF8}"/>
          </ac:spMkLst>
        </pc:spChg>
        <pc:spChg chg="mod">
          <ac:chgData name="Srikant Dharmana (Strat1 Consulting LLC)" userId="654db8d1-c988-4f4a-9b83-d6ad2cb15f77" providerId="ADAL" clId="{B4DE1DD0-0627-4530-9692-D4522E8399DE}" dt="2026-06-09T06:50:33.472" v="41" actId="1036"/>
          <ac:spMkLst>
            <pc:docMk/>
            <pc:sldMk cId="3360457477" sldId="2147482250"/>
            <ac:spMk id="34" creationId="{943CF467-D6B8-CC0C-16CE-03A4736C1F1F}"/>
          </ac:spMkLst>
        </pc:spChg>
        <pc:spChg chg="mod">
          <ac:chgData name="Srikant Dharmana (Strat1 Consulting LLC)" userId="654db8d1-c988-4f4a-9b83-d6ad2cb15f77" providerId="ADAL" clId="{B4DE1DD0-0627-4530-9692-D4522E8399DE}" dt="2026-06-09T06:51:01.911" v="57" actId="20577"/>
          <ac:spMkLst>
            <pc:docMk/>
            <pc:sldMk cId="3360457477" sldId="2147482250"/>
            <ac:spMk id="36" creationId="{FC8A2FB9-E491-C2D6-6941-A6436D215500}"/>
          </ac:spMkLst>
        </pc:spChg>
        <pc:spChg chg="mod">
          <ac:chgData name="Srikant Dharmana (Strat1 Consulting LLC)" userId="654db8d1-c988-4f4a-9b83-d6ad2cb15f77" providerId="ADAL" clId="{B4DE1DD0-0627-4530-9692-D4522E8399DE}" dt="2026-06-09T06:57:25.314" v="175" actId="20577"/>
          <ac:spMkLst>
            <pc:docMk/>
            <pc:sldMk cId="3360457477" sldId="2147482250"/>
            <ac:spMk id="42" creationId="{5382D5A0-42D1-AE65-5268-904A4B061A2A}"/>
          </ac:spMkLst>
        </pc:spChg>
        <pc:spChg chg="mod">
          <ac:chgData name="Srikant Dharmana (Strat1 Consulting LLC)" userId="654db8d1-c988-4f4a-9b83-d6ad2cb15f77" providerId="ADAL" clId="{B4DE1DD0-0627-4530-9692-D4522E8399DE}" dt="2026-06-09T06:57:09.501" v="164" actId="1035"/>
          <ac:spMkLst>
            <pc:docMk/>
            <pc:sldMk cId="3360457477" sldId="2147482250"/>
            <ac:spMk id="44" creationId="{9A26DEF7-A6F8-3268-7D5E-D2805C2F74D1}"/>
          </ac:spMkLst>
        </pc:spChg>
        <pc:spChg chg="mod">
          <ac:chgData name="Srikant Dharmana (Strat1 Consulting LLC)" userId="654db8d1-c988-4f4a-9b83-d6ad2cb15f77" providerId="ADAL" clId="{B4DE1DD0-0627-4530-9692-D4522E8399DE}" dt="2026-06-09T06:57:09.501" v="164" actId="1035"/>
          <ac:spMkLst>
            <pc:docMk/>
            <pc:sldMk cId="3360457477" sldId="2147482250"/>
            <ac:spMk id="48" creationId="{0E26CA40-1054-FB0E-DE5F-2A2B1BB99949}"/>
          </ac:spMkLst>
        </pc:spChg>
        <pc:picChg chg="mod">
          <ac:chgData name="Srikant Dharmana (Strat1 Consulting LLC)" userId="654db8d1-c988-4f4a-9b83-d6ad2cb15f77" providerId="ADAL" clId="{B4DE1DD0-0627-4530-9692-D4522E8399DE}" dt="2026-06-09T06:50:24.473" v="13" actId="1076"/>
          <ac:picMkLst>
            <pc:docMk/>
            <pc:sldMk cId="3360457477" sldId="2147482250"/>
            <ac:picMk id="52" creationId="{C98BB912-8303-5BEA-257D-BDCF746B8199}"/>
          </ac:picMkLst>
        </pc:picChg>
        <pc:picChg chg="mod">
          <ac:chgData name="Srikant Dharmana (Strat1 Consulting LLC)" userId="654db8d1-c988-4f4a-9b83-d6ad2cb15f77" providerId="ADAL" clId="{B4DE1DD0-0627-4530-9692-D4522E8399DE}" dt="2026-06-09T06:50:26.012" v="14" actId="1076"/>
          <ac:picMkLst>
            <pc:docMk/>
            <pc:sldMk cId="3360457477" sldId="2147482250"/>
            <ac:picMk id="56" creationId="{7D717154-6637-33C3-0F54-1F9A93B4940C}"/>
          </ac:picMkLst>
        </pc:picChg>
      </pc:sldChg>
      <pc:sldChg chg="modSp del mod">
        <pc:chgData name="Srikant Dharmana (Strat1 Consulting LLC)" userId="654db8d1-c988-4f4a-9b83-d6ad2cb15f77" providerId="ADAL" clId="{B4DE1DD0-0627-4530-9692-D4522E8399DE}" dt="2026-06-09T07:02:02.131" v="567" actId="47"/>
        <pc:sldMkLst>
          <pc:docMk/>
          <pc:sldMk cId="2333107653" sldId="2147482254"/>
        </pc:sldMkLst>
        <pc:graphicFrameChg chg="mod modGraphic">
          <ac:chgData name="Srikant Dharmana (Strat1 Consulting LLC)" userId="654db8d1-c988-4f4a-9b83-d6ad2cb15f77" providerId="ADAL" clId="{B4DE1DD0-0627-4530-9692-D4522E8399DE}" dt="2026-06-09T06:47:58.396" v="2" actId="1076"/>
          <ac:graphicFrameMkLst>
            <pc:docMk/>
            <pc:sldMk cId="2333107653" sldId="2147482254"/>
            <ac:graphicFrameMk id="3" creationId="{F1BFA187-AEB0-227E-1522-86963C99534A}"/>
          </ac:graphicFrameMkLst>
        </pc:graphicFrameChg>
      </pc:sldChg>
      <pc:sldChg chg="modSp mod">
        <pc:chgData name="Srikant Dharmana (Strat1 Consulting LLC)" userId="654db8d1-c988-4f4a-9b83-d6ad2cb15f77" providerId="ADAL" clId="{B4DE1DD0-0627-4530-9692-D4522E8399DE}" dt="2026-06-09T07:25:54.998" v="661" actId="20577"/>
        <pc:sldMkLst>
          <pc:docMk/>
          <pc:sldMk cId="1497187744" sldId="2147482255"/>
        </pc:sldMkLst>
        <pc:graphicFrameChg chg="mod modGraphic">
          <ac:chgData name="Srikant Dharmana (Strat1 Consulting LLC)" userId="654db8d1-c988-4f4a-9b83-d6ad2cb15f77" providerId="ADAL" clId="{B4DE1DD0-0627-4530-9692-D4522E8399DE}" dt="2026-06-09T07:25:54.998" v="661" actId="20577"/>
          <ac:graphicFrameMkLst>
            <pc:docMk/>
            <pc:sldMk cId="1497187744" sldId="2147482255"/>
            <ac:graphicFrameMk id="27" creationId="{11685646-9E41-AC25-581B-AF9F3E229601}"/>
          </ac:graphicFrameMkLst>
        </pc:graphicFrameChg>
      </pc:sldChg>
      <pc:sldChg chg="addSp delSp modSp del mod">
        <pc:chgData name="Srikant Dharmana (Strat1 Consulting LLC)" userId="654db8d1-c988-4f4a-9b83-d6ad2cb15f77" providerId="ADAL" clId="{B4DE1DD0-0627-4530-9692-D4522E8399DE}" dt="2026-06-09T07:25:07.522" v="599" actId="47"/>
        <pc:sldMkLst>
          <pc:docMk/>
          <pc:sldMk cId="2457918136" sldId="2147482256"/>
        </pc:sldMkLst>
        <pc:graphicFrameChg chg="add del mod modGraphic">
          <ac:chgData name="Srikant Dharmana (Strat1 Consulting LLC)" userId="654db8d1-c988-4f4a-9b83-d6ad2cb15f77" providerId="ADAL" clId="{B4DE1DD0-0627-4530-9692-D4522E8399DE}" dt="2026-06-09T07:24:22.332" v="593" actId="21"/>
          <ac:graphicFrameMkLst>
            <pc:docMk/>
            <pc:sldMk cId="2457918136" sldId="2147482256"/>
            <ac:graphicFrameMk id="3" creationId="{DC8611AD-8F47-E0AB-6AAD-8BC68E29BAAA}"/>
          </ac:graphicFrameMkLst>
        </pc:graphicFrameChg>
      </pc:sldChg>
      <pc:sldChg chg="del">
        <pc:chgData name="Srikant Dharmana (Strat1 Consulting LLC)" userId="654db8d1-c988-4f4a-9b83-d6ad2cb15f77" providerId="ADAL" clId="{B4DE1DD0-0627-4530-9692-D4522E8399DE}" dt="2026-06-09T07:02:55.276" v="573" actId="47"/>
        <pc:sldMkLst>
          <pc:docMk/>
          <pc:sldMk cId="1707925944" sldId="2147482258"/>
        </pc:sldMkLst>
      </pc:sldChg>
      <pc:sldChg chg="addSp delSp modSp mod ord">
        <pc:chgData name="Srikant Dharmana (Strat1 Consulting LLC)" userId="654db8d1-c988-4f4a-9b83-d6ad2cb15f77" providerId="ADAL" clId="{B4DE1DD0-0627-4530-9692-D4522E8399DE}" dt="2026-06-09T07:30:56.261" v="761" actId="14734"/>
        <pc:sldMkLst>
          <pc:docMk/>
          <pc:sldMk cId="3198515877" sldId="2147482259"/>
        </pc:sldMkLst>
        <pc:spChg chg="add del mod">
          <ac:chgData name="Srikant Dharmana (Strat1 Consulting LLC)" userId="654db8d1-c988-4f4a-9b83-d6ad2cb15f77" providerId="ADAL" clId="{B4DE1DD0-0627-4530-9692-D4522E8399DE}" dt="2026-06-09T07:30:47.413" v="760" actId="20577"/>
          <ac:spMkLst>
            <pc:docMk/>
            <pc:sldMk cId="3198515877" sldId="2147482259"/>
            <ac:spMk id="4" creationId="{2D9FFE3C-6161-E632-D534-D946CB1C2382}"/>
          </ac:spMkLst>
        </pc:spChg>
        <pc:graphicFrameChg chg="add mod modGraphic">
          <ac:chgData name="Srikant Dharmana (Strat1 Consulting LLC)" userId="654db8d1-c988-4f4a-9b83-d6ad2cb15f77" providerId="ADAL" clId="{B4DE1DD0-0627-4530-9692-D4522E8399DE}" dt="2026-06-09T07:30:56.261" v="761" actId="14734"/>
          <ac:graphicFrameMkLst>
            <pc:docMk/>
            <pc:sldMk cId="3198515877" sldId="2147482259"/>
            <ac:graphicFrameMk id="3" creationId="{0E1FA11D-96F7-EC45-205B-A3A6F2625FB9}"/>
          </ac:graphicFrameMkLst>
        </pc:graphicFrameChg>
        <pc:graphicFrameChg chg="mod">
          <ac:chgData name="Srikant Dharmana (Strat1 Consulting LLC)" userId="654db8d1-c988-4f4a-9b83-d6ad2cb15f77" providerId="ADAL" clId="{B4DE1DD0-0627-4530-9692-D4522E8399DE}" dt="2026-06-09T07:25:23.741" v="652" actId="1036"/>
          <ac:graphicFrameMkLst>
            <pc:docMk/>
            <pc:sldMk cId="3198515877" sldId="2147482259"/>
            <ac:graphicFrameMk id="8" creationId="{03888040-60F0-7274-4C2B-1983FEE92E86}"/>
          </ac:graphicFrameMkLst>
        </pc:graphicFrameChg>
        <pc:graphicFrameChg chg="mod">
          <ac:chgData name="Srikant Dharmana (Strat1 Consulting LLC)" userId="654db8d1-c988-4f4a-9b83-d6ad2cb15f77" providerId="ADAL" clId="{B4DE1DD0-0627-4530-9692-D4522E8399DE}" dt="2026-06-09T07:25:23.741" v="652" actId="1036"/>
          <ac:graphicFrameMkLst>
            <pc:docMk/>
            <pc:sldMk cId="3198515877" sldId="2147482259"/>
            <ac:graphicFrameMk id="20" creationId="{96F4D91C-D364-D7CC-55CE-FDB55D4FB9AA}"/>
          </ac:graphicFrameMkLst>
        </pc:graphicFrameChg>
        <pc:graphicFrameChg chg="mod">
          <ac:chgData name="Srikant Dharmana (Strat1 Consulting LLC)" userId="654db8d1-c988-4f4a-9b83-d6ad2cb15f77" providerId="ADAL" clId="{B4DE1DD0-0627-4530-9692-D4522E8399DE}" dt="2026-06-09T07:25:23.741" v="652" actId="1036"/>
          <ac:graphicFrameMkLst>
            <pc:docMk/>
            <pc:sldMk cId="3198515877" sldId="2147482259"/>
            <ac:graphicFrameMk id="22" creationId="{3F3A8BC7-18BE-D208-DD9B-B1F83FDE267E}"/>
          </ac:graphicFrameMkLst>
        </pc:graphicFrameChg>
        <pc:graphicFrameChg chg="mod">
          <ac:chgData name="Srikant Dharmana (Strat1 Consulting LLC)" userId="654db8d1-c988-4f4a-9b83-d6ad2cb15f77" providerId="ADAL" clId="{B4DE1DD0-0627-4530-9692-D4522E8399DE}" dt="2026-06-09T07:25:23.741" v="652" actId="1036"/>
          <ac:graphicFrameMkLst>
            <pc:docMk/>
            <pc:sldMk cId="3198515877" sldId="2147482259"/>
            <ac:graphicFrameMk id="28" creationId="{64E60F1D-4903-94ED-D7C9-DC33C0DDDDD4}"/>
          </ac:graphicFrameMkLst>
        </pc:graphicFrameChg>
        <pc:picChg chg="mod">
          <ac:chgData name="Srikant Dharmana (Strat1 Consulting LLC)" userId="654db8d1-c988-4f4a-9b83-d6ad2cb15f77" providerId="ADAL" clId="{B4DE1DD0-0627-4530-9692-D4522E8399DE}" dt="2026-06-09T07:25:23.741" v="652" actId="1036"/>
          <ac:picMkLst>
            <pc:docMk/>
            <pc:sldMk cId="3198515877" sldId="2147482259"/>
            <ac:picMk id="6" creationId="{C585D61F-8183-BF93-6093-830CA5B30660}"/>
          </ac:picMkLst>
        </pc:picChg>
        <pc:picChg chg="mod">
          <ac:chgData name="Srikant Dharmana (Strat1 Consulting LLC)" userId="654db8d1-c988-4f4a-9b83-d6ad2cb15f77" providerId="ADAL" clId="{B4DE1DD0-0627-4530-9692-D4522E8399DE}" dt="2026-06-09T07:25:23.741" v="652" actId="1036"/>
          <ac:picMkLst>
            <pc:docMk/>
            <pc:sldMk cId="3198515877" sldId="2147482259"/>
            <ac:picMk id="10" creationId="{288315DA-F53D-4696-9AE6-CEA024C763C2}"/>
          </ac:picMkLst>
        </pc:picChg>
        <pc:picChg chg="mod">
          <ac:chgData name="Srikant Dharmana (Strat1 Consulting LLC)" userId="654db8d1-c988-4f4a-9b83-d6ad2cb15f77" providerId="ADAL" clId="{B4DE1DD0-0627-4530-9692-D4522E8399DE}" dt="2026-06-09T07:25:23.741" v="652" actId="1036"/>
          <ac:picMkLst>
            <pc:docMk/>
            <pc:sldMk cId="3198515877" sldId="2147482259"/>
            <ac:picMk id="12" creationId="{F0CFC240-22A6-0F06-3D73-9AD7F4D51DC9}"/>
          </ac:picMkLst>
        </pc:picChg>
        <pc:picChg chg="mod">
          <ac:chgData name="Srikant Dharmana (Strat1 Consulting LLC)" userId="654db8d1-c988-4f4a-9b83-d6ad2cb15f77" providerId="ADAL" clId="{B4DE1DD0-0627-4530-9692-D4522E8399DE}" dt="2026-06-09T07:25:23.741" v="652" actId="1036"/>
          <ac:picMkLst>
            <pc:docMk/>
            <pc:sldMk cId="3198515877" sldId="2147482259"/>
            <ac:picMk id="14" creationId="{754EA529-A342-680C-B51A-4307974BF1EC}"/>
          </ac:picMkLst>
        </pc:picChg>
        <pc:picChg chg="mod">
          <ac:chgData name="Srikant Dharmana (Strat1 Consulting LLC)" userId="654db8d1-c988-4f4a-9b83-d6ad2cb15f77" providerId="ADAL" clId="{B4DE1DD0-0627-4530-9692-D4522E8399DE}" dt="2026-06-09T07:25:23.741" v="652" actId="1036"/>
          <ac:picMkLst>
            <pc:docMk/>
            <pc:sldMk cId="3198515877" sldId="2147482259"/>
            <ac:picMk id="16" creationId="{39DA6284-18FC-19FF-D1C7-4ABD12D41C1F}"/>
          </ac:picMkLst>
        </pc:picChg>
        <pc:picChg chg="mod">
          <ac:chgData name="Srikant Dharmana (Strat1 Consulting LLC)" userId="654db8d1-c988-4f4a-9b83-d6ad2cb15f77" providerId="ADAL" clId="{B4DE1DD0-0627-4530-9692-D4522E8399DE}" dt="2026-06-09T07:25:23.741" v="652" actId="1036"/>
          <ac:picMkLst>
            <pc:docMk/>
            <pc:sldMk cId="3198515877" sldId="2147482259"/>
            <ac:picMk id="18" creationId="{21798AF0-F98D-8DC2-D44E-9225B5AF830A}"/>
          </ac:picMkLst>
        </pc:picChg>
      </pc:sldChg>
      <pc:sldChg chg="del">
        <pc:chgData name="Srikant Dharmana (Strat1 Consulting LLC)" userId="654db8d1-c988-4f4a-9b83-d6ad2cb15f77" providerId="ADAL" clId="{B4DE1DD0-0627-4530-9692-D4522E8399DE}" dt="2026-06-09T07:02:56.842" v="574" actId="47"/>
        <pc:sldMkLst>
          <pc:docMk/>
          <pc:sldMk cId="372226053" sldId="2147482260"/>
        </pc:sldMkLst>
      </pc:sldChg>
      <pc:sldChg chg="del">
        <pc:chgData name="Srikant Dharmana (Strat1 Consulting LLC)" userId="654db8d1-c988-4f4a-9b83-d6ad2cb15f77" providerId="ADAL" clId="{B4DE1DD0-0627-4530-9692-D4522E8399DE}" dt="2026-06-09T07:02:59.557" v="576" actId="47"/>
        <pc:sldMkLst>
          <pc:docMk/>
          <pc:sldMk cId="3001993504" sldId="2147482263"/>
        </pc:sldMkLst>
      </pc:sldChg>
      <pc:sldChg chg="del">
        <pc:chgData name="Srikant Dharmana (Strat1 Consulting LLC)" userId="654db8d1-c988-4f4a-9b83-d6ad2cb15f77" providerId="ADAL" clId="{B4DE1DD0-0627-4530-9692-D4522E8399DE}" dt="2026-06-09T07:02:57.979" v="575" actId="47"/>
        <pc:sldMkLst>
          <pc:docMk/>
          <pc:sldMk cId="1237345951" sldId="2147482264"/>
        </pc:sldMkLst>
      </pc:sldChg>
      <pc:sldChg chg="addSp delSp modSp new del mod">
        <pc:chgData name="Srikant Dharmana (Strat1 Consulting LLC)" userId="654db8d1-c988-4f4a-9b83-d6ad2cb15f77" providerId="ADAL" clId="{B4DE1DD0-0627-4530-9692-D4522E8399DE}" dt="2026-06-09T07:26:15.651" v="662" actId="47"/>
        <pc:sldMkLst>
          <pc:docMk/>
          <pc:sldMk cId="4142598211" sldId="2147482265"/>
        </pc:sldMkLst>
        <pc:spChg chg="del mod">
          <ac:chgData name="Srikant Dharmana (Strat1 Consulting LLC)" userId="654db8d1-c988-4f4a-9b83-d6ad2cb15f77" providerId="ADAL" clId="{B4DE1DD0-0627-4530-9692-D4522E8399DE}" dt="2026-06-09T07:01:32.490" v="511" actId="478"/>
          <ac:spMkLst>
            <pc:docMk/>
            <pc:sldMk cId="4142598211" sldId="2147482265"/>
            <ac:spMk id="2" creationId="{1CAC2EB7-E9AB-89F0-768E-8F06421ED07B}"/>
          </ac:spMkLst>
        </pc:spChg>
        <pc:spChg chg="add mod">
          <ac:chgData name="Srikant Dharmana (Strat1 Consulting LLC)" userId="654db8d1-c988-4f4a-9b83-d6ad2cb15f77" providerId="ADAL" clId="{B4DE1DD0-0627-4530-9692-D4522E8399DE}" dt="2026-06-09T07:01:49.815" v="564" actId="20577"/>
          <ac:spMkLst>
            <pc:docMk/>
            <pc:sldMk cId="4142598211" sldId="2147482265"/>
            <ac:spMk id="7" creationId="{7FE83388-C910-E3BB-3042-EE43E30F5074}"/>
          </ac:spMkLst>
        </pc:spChg>
        <pc:graphicFrameChg chg="add del mod modGraphic">
          <ac:chgData name="Srikant Dharmana (Strat1 Consulting LLC)" userId="654db8d1-c988-4f4a-9b83-d6ad2cb15f77" providerId="ADAL" clId="{B4DE1DD0-0627-4530-9692-D4522E8399DE}" dt="2026-06-09T07:25:13.579" v="600" actId="21"/>
          <ac:graphicFrameMkLst>
            <pc:docMk/>
            <pc:sldMk cId="4142598211" sldId="2147482265"/>
            <ac:graphicFrameMk id="5" creationId="{000CB38F-A9EC-976A-0B5F-743E8D1B997D}"/>
          </ac:graphicFrameMkLst>
        </pc:graphicFrameChg>
        <pc:graphicFrameChg chg="add mod modGraphic">
          <ac:chgData name="Srikant Dharmana (Strat1 Consulting LLC)" userId="654db8d1-c988-4f4a-9b83-d6ad2cb15f77" providerId="ADAL" clId="{B4DE1DD0-0627-4530-9692-D4522E8399DE}" dt="2026-06-09T07:24:50.737" v="598" actId="14100"/>
          <ac:graphicFrameMkLst>
            <pc:docMk/>
            <pc:sldMk cId="4142598211" sldId="2147482265"/>
            <ac:graphicFrameMk id="9" creationId="{1889F01B-251F-0C0F-C0B2-91E26B008D74}"/>
          </ac:graphicFrameMkLst>
        </pc:graphicFrameChg>
        <pc:picChg chg="add del mod">
          <ac:chgData name="Srikant Dharmana (Strat1 Consulting LLC)" userId="654db8d1-c988-4f4a-9b83-d6ad2cb15f77" providerId="ADAL" clId="{B4DE1DD0-0627-4530-9692-D4522E8399DE}" dt="2026-06-09T07:01:54.866" v="565" actId="478"/>
          <ac:picMkLst>
            <pc:docMk/>
            <pc:sldMk cId="4142598211" sldId="2147482265"/>
            <ac:picMk id="3" creationId="{9565E06C-E35C-18E4-B4A1-EC9EA74880E4}"/>
          </ac:picMkLst>
        </pc:picChg>
      </pc:sldChg>
      <pc:sldChg chg="add del">
        <pc:chgData name="Srikant Dharmana (Strat1 Consulting LLC)" userId="654db8d1-c988-4f4a-9b83-d6ad2cb15f77" providerId="ADAL" clId="{B4DE1DD0-0627-4530-9692-D4522E8399DE}" dt="2026-06-09T07:22:13.554" v="580" actId="47"/>
        <pc:sldMkLst>
          <pc:docMk/>
          <pc:sldMk cId="3745689069" sldId="2147482266"/>
        </pc:sldMkLst>
      </pc:sldChg>
      <pc:sldChg chg="add del">
        <pc:chgData name="Srikant Dharmana (Strat1 Consulting LLC)" userId="654db8d1-c988-4f4a-9b83-d6ad2cb15f77" providerId="ADAL" clId="{B4DE1DD0-0627-4530-9692-D4522E8399DE}" dt="2026-06-09T07:22:10.368" v="579" actId="47"/>
        <pc:sldMkLst>
          <pc:docMk/>
          <pc:sldMk cId="3745689069" sldId="2147482267"/>
        </pc:sldMkLst>
      </pc:sldChg>
      <pc:sldChg chg="addSp modSp add mod">
        <pc:chgData name="Srikant Dharmana (Strat1 Consulting LLC)" userId="654db8d1-c988-4f4a-9b83-d6ad2cb15f77" providerId="ADAL" clId="{B4DE1DD0-0627-4530-9692-D4522E8399DE}" dt="2026-06-09T07:28:21.038" v="695" actId="14100"/>
        <pc:sldMkLst>
          <pc:docMk/>
          <pc:sldMk cId="3745689069" sldId="2147482268"/>
        </pc:sldMkLst>
        <pc:spChg chg="add mod ord">
          <ac:chgData name="Srikant Dharmana (Strat1 Consulting LLC)" userId="654db8d1-c988-4f4a-9b83-d6ad2cb15f77" providerId="ADAL" clId="{B4DE1DD0-0627-4530-9692-D4522E8399DE}" dt="2026-06-09T07:28:13.350" v="694" actId="14100"/>
          <ac:spMkLst>
            <pc:docMk/>
            <pc:sldMk cId="3745689069" sldId="2147482268"/>
            <ac:spMk id="2" creationId="{C8F833C3-0304-C489-0A10-120C527268CC}"/>
          </ac:spMkLst>
        </pc:spChg>
        <pc:spChg chg="mod">
          <ac:chgData name="Srikant Dharmana (Strat1 Consulting LLC)" userId="654db8d1-c988-4f4a-9b83-d6ad2cb15f77" providerId="ADAL" clId="{B4DE1DD0-0627-4530-9692-D4522E8399DE}" dt="2026-06-09T07:28:21.038" v="695" actId="14100"/>
          <ac:spMkLst>
            <pc:docMk/>
            <pc:sldMk cId="3745689069" sldId="2147482268"/>
            <ac:spMk id="10" creationId="{00000000-0000-0000-0000-000000000000}"/>
          </ac:spMkLst>
        </pc:spChg>
      </pc:sldChg>
      <pc:sldChg chg="addSp delSp modSp add mod ord">
        <pc:chgData name="Srikant Dharmana (Strat1 Consulting LLC)" userId="654db8d1-c988-4f4a-9b83-d6ad2cb15f77" providerId="ADAL" clId="{B4DE1DD0-0627-4530-9692-D4522E8399DE}" dt="2026-06-09T07:27:39.447" v="688" actId="478"/>
        <pc:sldMkLst>
          <pc:docMk/>
          <pc:sldMk cId="2750215691" sldId="2147482269"/>
        </pc:sldMkLst>
        <pc:spChg chg="add mod">
          <ac:chgData name="Srikant Dharmana (Strat1 Consulting LLC)" userId="654db8d1-c988-4f4a-9b83-d6ad2cb15f77" providerId="ADAL" clId="{B4DE1DD0-0627-4530-9692-D4522E8399DE}" dt="2026-06-09T07:27:35.906" v="687" actId="20577"/>
          <ac:spMkLst>
            <pc:docMk/>
            <pc:sldMk cId="2750215691" sldId="2147482269"/>
            <ac:spMk id="3" creationId="{7BA238B4-0ECC-1979-27D8-079F3FFA824F}"/>
          </ac:spMkLst>
        </pc:spChg>
        <pc:spChg chg="del mod">
          <ac:chgData name="Srikant Dharmana (Strat1 Consulting LLC)" userId="654db8d1-c988-4f4a-9b83-d6ad2cb15f77" providerId="ADAL" clId="{B4DE1DD0-0627-4530-9692-D4522E8399DE}" dt="2026-06-09T07:27:39.447" v="688" actId="478"/>
          <ac:spMkLst>
            <pc:docMk/>
            <pc:sldMk cId="2750215691" sldId="2147482269"/>
            <ac:spMk id="7" creationId="{BD17F184-C5F8-FA5E-8CA4-10A33DEC9748}"/>
          </ac:spMkLst>
        </pc:spChg>
        <pc:graphicFrameChg chg="modGraphic">
          <ac:chgData name="Srikant Dharmana (Strat1 Consulting LLC)" userId="654db8d1-c988-4f4a-9b83-d6ad2cb15f77" providerId="ADAL" clId="{B4DE1DD0-0627-4530-9692-D4522E8399DE}" dt="2026-06-09T07:26:26.447" v="664" actId="14100"/>
          <ac:graphicFrameMkLst>
            <pc:docMk/>
            <pc:sldMk cId="2750215691" sldId="2147482269"/>
            <ac:graphicFrameMk id="5" creationId="{0324A474-D0AD-35CD-5DAE-C68B17455C11}"/>
          </ac:graphicFrameMkLst>
        </pc:graphicFrameChg>
      </pc:sldChg>
      <pc:sldChg chg="addSp delSp modSp add del mod ord chgLayout">
        <pc:chgData name="Srikant Dharmana (Strat1 Consulting LLC)" userId="654db8d1-c988-4f4a-9b83-d6ad2cb15f77" providerId="ADAL" clId="{B4DE1DD0-0627-4530-9692-D4522E8399DE}" dt="2026-06-09T07:29:23.870" v="724" actId="47"/>
        <pc:sldMkLst>
          <pc:docMk/>
          <pc:sldMk cId="968585461" sldId="2147482270"/>
        </pc:sldMkLst>
        <pc:spChg chg="add del mod">
          <ac:chgData name="Srikant Dharmana (Strat1 Consulting LLC)" userId="654db8d1-c988-4f4a-9b83-d6ad2cb15f77" providerId="ADAL" clId="{B4DE1DD0-0627-4530-9692-D4522E8399DE}" dt="2026-06-09T07:28:47.864" v="706" actId="478"/>
          <ac:spMkLst>
            <pc:docMk/>
            <pc:sldMk cId="968585461" sldId="2147482270"/>
            <ac:spMk id="4" creationId="{C9DD99F6-0E88-D3EC-C57E-3C3AAEB1D465}"/>
          </ac:spMkLst>
        </pc:spChg>
        <pc:spChg chg="add mod ord">
          <ac:chgData name="Srikant Dharmana (Strat1 Consulting LLC)" userId="654db8d1-c988-4f4a-9b83-d6ad2cb15f77" providerId="ADAL" clId="{B4DE1DD0-0627-4530-9692-D4522E8399DE}" dt="2026-06-09T07:29:08.954" v="720" actId="700"/>
          <ac:spMkLst>
            <pc:docMk/>
            <pc:sldMk cId="968585461" sldId="2147482270"/>
            <ac:spMk id="5" creationId="{251CCA9E-AE01-120E-8640-586B3BF96CD6}"/>
          </ac:spMkLst>
        </pc:spChg>
        <pc:spChg chg="add mod ord">
          <ac:chgData name="Srikant Dharmana (Strat1 Consulting LLC)" userId="654db8d1-c988-4f4a-9b83-d6ad2cb15f77" providerId="ADAL" clId="{B4DE1DD0-0627-4530-9692-D4522E8399DE}" dt="2026-06-09T07:29:18.139" v="723" actId="20577"/>
          <ac:spMkLst>
            <pc:docMk/>
            <pc:sldMk cId="968585461" sldId="2147482270"/>
            <ac:spMk id="6" creationId="{D4D3E4EE-13C3-F796-AF16-04F8DF3CF706}"/>
          </ac:spMkLst>
        </pc:spChg>
        <pc:spChg chg="mod ord">
          <ac:chgData name="Srikant Dharmana (Strat1 Consulting LLC)" userId="654db8d1-c988-4f4a-9b83-d6ad2cb15f77" providerId="ADAL" clId="{B4DE1DD0-0627-4530-9692-D4522E8399DE}" dt="2026-06-09T07:29:14.401" v="721" actId="21"/>
          <ac:spMkLst>
            <pc:docMk/>
            <pc:sldMk cId="968585461" sldId="2147482270"/>
            <ac:spMk id="16" creationId="{A94069AF-DAB2-59D4-D13D-72F8522DE041}"/>
          </ac:spMkLst>
        </pc:spChg>
        <pc:spChg chg="del">
          <ac:chgData name="Srikant Dharmana (Strat1 Consulting LLC)" userId="654db8d1-c988-4f4a-9b83-d6ad2cb15f77" providerId="ADAL" clId="{B4DE1DD0-0627-4530-9692-D4522E8399DE}" dt="2026-06-09T07:28:45.483" v="705" actId="478"/>
          <ac:spMkLst>
            <pc:docMk/>
            <pc:sldMk cId="968585461" sldId="2147482270"/>
            <ac:spMk id="18" creationId="{587A0A6C-DD1E-5FBA-1508-4AC04DF99BBC}"/>
          </ac:spMkLst>
        </pc:s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A0C61-0A9F-466F-80F9-02EE841505C8}"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3EC6C-D9B0-445D-8E51-1C42F0278F68}" type="slidenum">
              <a:rPr lang="en-US" smtClean="0"/>
              <a:t>‹#›</a:t>
            </a:fld>
            <a:endParaRPr lang="en-US"/>
          </a:p>
        </p:txBody>
      </p:sp>
    </p:spTree>
    <p:extLst>
      <p:ext uri="{BB962C8B-B14F-4D97-AF65-F5344CB8AC3E}">
        <p14:creationId xmlns:p14="http://schemas.microsoft.com/office/powerpoint/2010/main" val="1156072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6EB7B5-09E6-239C-5548-D264863676F3}"/>
              </a:ext>
            </a:extLst>
          </p:cNvPr>
          <p:cNvSpPr/>
          <p:nvPr userDrawn="1"/>
        </p:nvSpPr>
        <p:spPr>
          <a:xfrm>
            <a:off x="9329057" y="6466114"/>
            <a:ext cx="2362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99E369-D7F9-40E1-6820-83BFE09DFB05}"/>
              </a:ext>
            </a:extLst>
          </p:cNvPr>
          <p:cNvSpPr/>
          <p:nvPr userDrawn="1"/>
        </p:nvSpPr>
        <p:spPr>
          <a:xfrm>
            <a:off x="-2" y="6147582"/>
            <a:ext cx="1674057" cy="71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4D47CDF-9154-775A-939D-16D454DA616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flipH="1">
            <a:off x="-2" y="2912526"/>
            <a:ext cx="12192001" cy="3945474"/>
          </a:xfrm>
          <a:prstGeom prst="rect">
            <a:avLst/>
          </a:prstGeom>
        </p:spPr>
      </p:pic>
      <p:sp>
        <p:nvSpPr>
          <p:cNvPr id="17" name="Text Placeholder 16">
            <a:extLst>
              <a:ext uri="{FF2B5EF4-FFF2-40B4-BE49-F238E27FC236}">
                <a16:creationId xmlns:a16="http://schemas.microsoft.com/office/drawing/2014/main" id="{DF850D93-3533-8DCB-34B7-C6D207234FF1}"/>
              </a:ext>
            </a:extLst>
          </p:cNvPr>
          <p:cNvSpPr>
            <a:spLocks noGrp="1"/>
          </p:cNvSpPr>
          <p:nvPr>
            <p:ph type="body" sz="quarter" idx="13"/>
          </p:nvPr>
        </p:nvSpPr>
        <p:spPr>
          <a:xfrm>
            <a:off x="968943" y="1630920"/>
            <a:ext cx="6943333" cy="1509387"/>
          </a:xfrm>
          <a:prstGeom prst="rect">
            <a:avLst/>
          </a:prstGeom>
        </p:spPr>
        <p:txBody>
          <a:bodyPr anchor="b">
            <a:noAutofit/>
          </a:bodyPr>
          <a:lstStyle>
            <a:lvl1pPr marL="0" indent="0">
              <a:lnSpc>
                <a:spcPct val="100000"/>
              </a:lnSpc>
              <a:spcBef>
                <a:spcPts val="0"/>
              </a:spcBef>
              <a:buNone/>
              <a:defRPr sz="4800">
                <a:solidFill>
                  <a:srgbClr val="1A1A1A"/>
                </a:solidFill>
                <a:latin typeface="ES Klarheit Grotesk Lt" pitchFamily="2" charset="0"/>
                <a:ea typeface="ES Klarheit Grotesk Lt" pitchFamily="2" charset="0"/>
              </a:defRPr>
            </a:lvl1pPr>
          </a:lstStyle>
          <a:p>
            <a:pPr lvl="0"/>
            <a:r>
              <a:rPr lang="en-GB"/>
              <a:t xml:space="preserve">Click to edit </a:t>
            </a:r>
          </a:p>
          <a:p>
            <a:pPr lvl="0"/>
            <a:r>
              <a:rPr lang="en-GB"/>
              <a:t>Master title style</a:t>
            </a:r>
          </a:p>
        </p:txBody>
      </p:sp>
      <p:sp>
        <p:nvSpPr>
          <p:cNvPr id="21" name="Text Placeholder 16">
            <a:extLst>
              <a:ext uri="{FF2B5EF4-FFF2-40B4-BE49-F238E27FC236}">
                <a16:creationId xmlns:a16="http://schemas.microsoft.com/office/drawing/2014/main" id="{26DC01FE-93EE-1F2D-F21D-E864C69D7FD2}"/>
              </a:ext>
            </a:extLst>
          </p:cNvPr>
          <p:cNvSpPr>
            <a:spLocks noGrp="1"/>
          </p:cNvSpPr>
          <p:nvPr>
            <p:ph type="body" sz="quarter" idx="14" hasCustomPrompt="1"/>
          </p:nvPr>
        </p:nvSpPr>
        <p:spPr>
          <a:xfrm>
            <a:off x="968943" y="3160731"/>
            <a:ext cx="6962275" cy="539441"/>
          </a:xfrm>
          <a:prstGeom prst="rect">
            <a:avLst/>
          </a:prstGeom>
        </p:spPr>
        <p:txBody>
          <a:bodyPr>
            <a:noAutofit/>
          </a:bodyPr>
          <a:lstStyle>
            <a:lvl1pPr marL="0" indent="0">
              <a:lnSpc>
                <a:spcPct val="100000"/>
              </a:lnSpc>
              <a:spcBef>
                <a:spcPts val="0"/>
              </a:spcBef>
              <a:buNone/>
              <a:defRPr sz="2200">
                <a:solidFill>
                  <a:schemeClr val="bg1">
                    <a:lumMod val="50000"/>
                  </a:schemeClr>
                </a:solidFill>
                <a:latin typeface="ES Klarheit Grotesk" pitchFamily="2" charset="0"/>
                <a:ea typeface="ES Klarheit Grotesk" pitchFamily="2" charset="0"/>
              </a:defRPr>
            </a:lvl1pPr>
          </a:lstStyle>
          <a:p>
            <a:pPr lvl="0"/>
            <a:r>
              <a:rPr lang="en-GB"/>
              <a:t>Click to edit Master subtitle style</a:t>
            </a:r>
          </a:p>
        </p:txBody>
      </p:sp>
      <p:sp>
        <p:nvSpPr>
          <p:cNvPr id="24" name="Text Placeholder 16">
            <a:extLst>
              <a:ext uri="{FF2B5EF4-FFF2-40B4-BE49-F238E27FC236}">
                <a16:creationId xmlns:a16="http://schemas.microsoft.com/office/drawing/2014/main" id="{82851D19-714D-3D51-E2C8-D83032A237AC}"/>
              </a:ext>
            </a:extLst>
          </p:cNvPr>
          <p:cNvSpPr>
            <a:spLocks noGrp="1"/>
          </p:cNvSpPr>
          <p:nvPr>
            <p:ph type="body" sz="quarter" idx="15" hasCustomPrompt="1"/>
          </p:nvPr>
        </p:nvSpPr>
        <p:spPr>
          <a:xfrm>
            <a:off x="968943" y="4236366"/>
            <a:ext cx="5127057" cy="388051"/>
          </a:xfrm>
          <a:prstGeom prst="rect">
            <a:avLst/>
          </a:prstGeom>
        </p:spPr>
        <p:txBody>
          <a:bodyPr>
            <a:noAutofit/>
          </a:bodyPr>
          <a:lstStyle>
            <a:lvl1pPr marL="0" indent="0">
              <a:lnSpc>
                <a:spcPct val="100000"/>
              </a:lnSpc>
              <a:spcBef>
                <a:spcPts val="0"/>
              </a:spcBef>
              <a:buNone/>
              <a:defRPr sz="1600">
                <a:solidFill>
                  <a:srgbClr val="1A1A1A"/>
                </a:solidFill>
                <a:latin typeface="ES Klarheit Grotesk" pitchFamily="2" charset="0"/>
                <a:ea typeface="ES Klarheit Grotesk" pitchFamily="2" charset="0"/>
              </a:defRPr>
            </a:lvl1pPr>
          </a:lstStyle>
          <a:p>
            <a:pPr lvl="0"/>
            <a:r>
              <a:rPr lang="en-GB"/>
              <a:t>March 10,  2026</a:t>
            </a:r>
          </a:p>
        </p:txBody>
      </p:sp>
      <p:pic>
        <p:nvPicPr>
          <p:cNvPr id="4" name="Picture 3">
            <a:extLst>
              <a:ext uri="{FF2B5EF4-FFF2-40B4-BE49-F238E27FC236}">
                <a16:creationId xmlns:a16="http://schemas.microsoft.com/office/drawing/2014/main" id="{637DA7AF-3E3A-0A22-E80F-D7D261E6326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936" y="-28576"/>
            <a:ext cx="12052124" cy="910186"/>
          </a:xfrm>
          <a:prstGeom prst="rect">
            <a:avLst/>
          </a:prstGeom>
        </p:spPr>
      </p:pic>
    </p:spTree>
    <p:extLst>
      <p:ext uri="{BB962C8B-B14F-4D97-AF65-F5344CB8AC3E}">
        <p14:creationId xmlns:p14="http://schemas.microsoft.com/office/powerpoint/2010/main" val="3031923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8C4AC4-BDEC-4357-8D60-8D24A93B26F7}" type="slidenum">
              <a:rPr lang="en-IN" smtClean="0"/>
              <a:t>‹#›</a:t>
            </a:fld>
            <a:endParaRPr lang="en-IN"/>
          </a:p>
        </p:txBody>
      </p:sp>
      <p:cxnSp>
        <p:nvCxnSpPr>
          <p:cNvPr id="15" name="Straight Connector 14"/>
          <p:cNvCxnSpPr/>
          <p:nvPr/>
        </p:nvCxnSpPr>
        <p:spPr>
          <a:xfrm>
            <a:off x="608851" y="1130793"/>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1">
            <a:extLst>
              <a:ext uri="{FF2B5EF4-FFF2-40B4-BE49-F238E27FC236}">
                <a16:creationId xmlns:a16="http://schemas.microsoft.com/office/drawing/2014/main" id="{2020E0B2-909A-7EED-D348-0FC69D360FB1}"/>
              </a:ext>
            </a:extLst>
          </p:cNvPr>
          <p:cNvSpPr>
            <a:spLocks noGrp="1"/>
          </p:cNvSpPr>
          <p:nvPr>
            <p:ph type="title" hasCustomPrompt="1"/>
          </p:nvPr>
        </p:nvSpPr>
        <p:spPr>
          <a:xfrm>
            <a:off x="461963" y="457200"/>
            <a:ext cx="7437437" cy="553998"/>
          </a:xfrm>
        </p:spPr>
        <p:txBody>
          <a:bodyPr/>
          <a:lstStyle>
            <a:lvl1pPr>
              <a:defRPr sz="3600" b="0" i="0">
                <a:solidFill>
                  <a:schemeClr val="bg1"/>
                </a:solidFill>
                <a:latin typeface="Segoe Sans Display Semibold" pitchFamily="2" charset="0"/>
                <a:cs typeface="Segoe Sans Display Semibold" pitchFamily="2" charset="0"/>
              </a:defRPr>
            </a:lvl1pPr>
          </a:lstStyle>
          <a:p>
            <a:r>
              <a:rPr lang="en-US"/>
              <a:t>Agenda</a:t>
            </a:r>
          </a:p>
        </p:txBody>
      </p:sp>
      <p:pic>
        <p:nvPicPr>
          <p:cNvPr id="9" name="MS logo gray - EMF">
            <a:extLst>
              <a:ext uri="{FF2B5EF4-FFF2-40B4-BE49-F238E27FC236}">
                <a16:creationId xmlns:a16="http://schemas.microsoft.com/office/drawing/2014/main" id="{07811DFC-7AC4-0106-68F9-9C8FA1DADF6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1514621" y="6389431"/>
            <a:ext cx="1012916" cy="216905"/>
          </a:xfrm>
          <a:prstGeom prst="rect">
            <a:avLst/>
          </a:prstGeom>
        </p:spPr>
      </p:pic>
    </p:spTree>
    <p:extLst>
      <p:ext uri="{BB962C8B-B14F-4D97-AF65-F5344CB8AC3E}">
        <p14:creationId xmlns:p14="http://schemas.microsoft.com/office/powerpoint/2010/main" val="146131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8" name="MS logo gray - EMF">
            <a:extLst>
              <a:ext uri="{FF2B5EF4-FFF2-40B4-BE49-F238E27FC236}">
                <a16:creationId xmlns:a16="http://schemas.microsoft.com/office/drawing/2014/main" id="{8A717617-C5F1-38D1-D474-9A4761038F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1514621" y="6389431"/>
            <a:ext cx="1012916" cy="216905"/>
          </a:xfrm>
          <a:prstGeom prst="rect">
            <a:avLst/>
          </a:prstGeom>
        </p:spPr>
      </p:pic>
    </p:spTree>
    <p:extLst>
      <p:ext uri="{BB962C8B-B14F-4D97-AF65-F5344CB8AC3E}">
        <p14:creationId xmlns:p14="http://schemas.microsoft.com/office/powerpoint/2010/main" val="3664698057"/>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C14536-469C-7DFD-90D3-3AF1CFE825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3D9401-1575-2E89-7755-C480FFD4A8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a:extLst>
              <a:ext uri="{FF2B5EF4-FFF2-40B4-BE49-F238E27FC236}">
                <a16:creationId xmlns:a16="http://schemas.microsoft.com/office/drawing/2014/main" id="{89DD044F-AD70-AA31-7DBF-D6B87F82F156}"/>
              </a:ext>
            </a:extLst>
          </p:cNvPr>
          <p:cNvSpPr txBox="1"/>
          <p:nvPr userDrawn="1"/>
        </p:nvSpPr>
        <p:spPr>
          <a:xfrm>
            <a:off x="8501440" y="6450756"/>
            <a:ext cx="2762250" cy="214289"/>
          </a:xfrm>
          <a:prstGeom prst="rect">
            <a:avLst/>
          </a:prstGeom>
          <a:noFill/>
        </p:spPr>
        <p:txBody>
          <a:bodyPr wrap="square" anchor="ctr">
            <a:spAutoFit/>
          </a:bodyPr>
          <a:lstStyle/>
          <a:p>
            <a:pPr algn="r">
              <a:lnSpc>
                <a:spcPct val="107000"/>
              </a:lnSpc>
              <a:spcAft>
                <a:spcPts val="800"/>
              </a:spcAft>
            </a:pPr>
            <a:r>
              <a:rPr lang="en-US" sz="800">
                <a:solidFill>
                  <a:schemeClr val="bg1">
                    <a:lumMod val="65000"/>
                  </a:schemeClr>
                </a:solidFill>
                <a:effectLst/>
                <a:latin typeface="ES Klarheit Grotesk" pitchFamily="2" charset="0"/>
                <a:ea typeface="ES Klarheit Grotesk" pitchFamily="2" charset="0"/>
                <a:cs typeface="Calibri" panose="020F0502020204030204" pitchFamily="34" charset="0"/>
              </a:rPr>
              <a:t>©LTM  |  Privileged and Confidential</a:t>
            </a:r>
          </a:p>
        </p:txBody>
      </p:sp>
      <p:sp>
        <p:nvSpPr>
          <p:cNvPr id="8" name="Marcador de número de diapositiva 5">
            <a:extLst>
              <a:ext uri="{FF2B5EF4-FFF2-40B4-BE49-F238E27FC236}">
                <a16:creationId xmlns:a16="http://schemas.microsoft.com/office/drawing/2014/main" id="{8DCC2A93-263C-98AF-A948-75A458E15543}"/>
              </a:ext>
            </a:extLst>
          </p:cNvPr>
          <p:cNvSpPr txBox="1">
            <a:spLocks/>
          </p:cNvSpPr>
          <p:nvPr userDrawn="1"/>
        </p:nvSpPr>
        <p:spPr>
          <a:xfrm>
            <a:off x="11116286" y="6434967"/>
            <a:ext cx="513190" cy="229550"/>
          </a:xfrm>
          <a:prstGeom prst="rect">
            <a:avLst/>
          </a:prstGeom>
        </p:spPr>
        <p:txBody>
          <a:bodyPr lIns="104891" tIns="52445" rIns="104891" bIns="52445" anchor="ct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800" b="0" smtClean="0">
                <a:solidFill>
                  <a:schemeClr val="bg1">
                    <a:lumMod val="65000"/>
                  </a:schemeClr>
                </a:solidFill>
                <a:latin typeface="ES Klarheit Grotesk" pitchFamily="2" charset="0"/>
                <a:ea typeface="ES Klarheit Grotesk" pitchFamily="2" charset="0"/>
                <a:cs typeface="Calibri" panose="020F0502020204030204" pitchFamily="34" charset="0"/>
              </a:rPr>
              <a:pPr algn="r"/>
              <a:t>‹#›</a:t>
            </a:fld>
            <a:endParaRPr lang="en-US" sz="800" b="0">
              <a:solidFill>
                <a:schemeClr val="bg1">
                  <a:lumMod val="65000"/>
                </a:schemeClr>
              </a:solidFill>
              <a:latin typeface="ES Klarheit Grotesk" pitchFamily="2" charset="0"/>
              <a:ea typeface="ES Klarheit Grotesk" pitchFamily="2" charset="0"/>
              <a:cs typeface="Calibri" panose="020F0502020204030204" pitchFamily="34" charset="0"/>
            </a:endParaRPr>
          </a:p>
        </p:txBody>
      </p:sp>
      <p:pic>
        <p:nvPicPr>
          <p:cNvPr id="37" name="Graphic 36">
            <a:extLst>
              <a:ext uri="{FF2B5EF4-FFF2-40B4-BE49-F238E27FC236}">
                <a16:creationId xmlns:a16="http://schemas.microsoft.com/office/drawing/2014/main" id="{27F7487F-1441-7542-7165-4AC10FBD95F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96386" y="6439554"/>
            <a:ext cx="513480" cy="135126"/>
          </a:xfrm>
          <a:prstGeom prst="rect">
            <a:avLst/>
          </a:prstGeom>
        </p:spPr>
      </p:pic>
    </p:spTree>
    <p:extLst>
      <p:ext uri="{BB962C8B-B14F-4D97-AF65-F5344CB8AC3E}">
        <p14:creationId xmlns:p14="http://schemas.microsoft.com/office/powerpoint/2010/main" val="734643780"/>
      </p:ext>
    </p:extLst>
  </p:cSld>
  <p:clrMap bg1="lt1" tx1="dk1" bg2="lt2" tx2="dk2" accent1="accent1" accent2="accent2" accent3="accent3" accent4="accent4" accent5="accent5" accent6="accent6" hlink="hlink" folHlink="folHlink"/>
  <p:sldLayoutIdLst>
    <p:sldLayoutId id="2147483736" r:id="rId1"/>
    <p:sldLayoutId id="2147483749" r:id="rId2"/>
    <p:sldLayoutId id="214748375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B119-D3AB-D49F-5418-44C3BA5AFC33}"/>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C68C1C86-281E-0CF9-D91E-42D2DFEFC536}"/>
              </a:ext>
            </a:extLst>
          </p:cNvPr>
          <p:cNvSpPr>
            <a:spLocks noGrp="1"/>
          </p:cNvSpPr>
          <p:nvPr>
            <p:ph type="body" sz="quarter" idx="13"/>
          </p:nvPr>
        </p:nvSpPr>
        <p:spPr>
          <a:xfrm>
            <a:off x="993995" y="2374578"/>
            <a:ext cx="6943333" cy="1509387"/>
          </a:xfrm>
        </p:spPr>
        <p:txBody>
          <a:bodyPr/>
          <a:lstStyle/>
          <a:p>
            <a:r>
              <a:rPr lang="en-US" sz="6600" dirty="0"/>
              <a:t>Hack2Future</a:t>
            </a:r>
            <a:endParaRPr lang="en-GB" sz="6600" dirty="0"/>
          </a:p>
          <a:p>
            <a:r>
              <a:rPr lang="en-US" sz="2400" dirty="0"/>
              <a:t xml:space="preserve"> LTM x Microsoft Hackathon Partnership</a:t>
            </a:r>
          </a:p>
        </p:txBody>
      </p:sp>
      <p:sp>
        <p:nvSpPr>
          <p:cNvPr id="18" name="Text Placeholder 17">
            <a:extLst>
              <a:ext uri="{FF2B5EF4-FFF2-40B4-BE49-F238E27FC236}">
                <a16:creationId xmlns:a16="http://schemas.microsoft.com/office/drawing/2014/main" id="{BF0B3312-C7FB-1624-45D5-30D170679174}"/>
              </a:ext>
            </a:extLst>
          </p:cNvPr>
          <p:cNvSpPr>
            <a:spLocks noGrp="1"/>
          </p:cNvSpPr>
          <p:nvPr>
            <p:ph type="body" sz="quarter" idx="14"/>
          </p:nvPr>
        </p:nvSpPr>
        <p:spPr>
          <a:xfrm>
            <a:off x="1061662" y="4295821"/>
            <a:ext cx="4286193" cy="388051"/>
          </a:xfrm>
        </p:spPr>
        <p:txBody>
          <a:bodyPr/>
          <a:lstStyle/>
          <a:p>
            <a:r>
              <a:rPr lang="en-US" b="1" dirty="0">
                <a:solidFill>
                  <a:srgbClr val="FD5E49"/>
                </a:solidFill>
              </a:rPr>
              <a:t>POC/Solution Submission Template</a:t>
            </a:r>
          </a:p>
        </p:txBody>
      </p:sp>
      <p:sp>
        <p:nvSpPr>
          <p:cNvPr id="9" name="Isosceles Triangle 1">
            <a:extLst>
              <a:ext uri="{FF2B5EF4-FFF2-40B4-BE49-F238E27FC236}">
                <a16:creationId xmlns:a16="http://schemas.microsoft.com/office/drawing/2014/main" id="{EDB93E95-453B-4A63-85D4-2D0451281C0C}"/>
              </a:ext>
            </a:extLst>
          </p:cNvPr>
          <p:cNvSpPr/>
          <p:nvPr/>
        </p:nvSpPr>
        <p:spPr>
          <a:xfrm rot="5400000">
            <a:off x="10361306" y="3018212"/>
            <a:ext cx="1334864" cy="338534"/>
          </a:xfrm>
          <a:custGeom>
            <a:avLst/>
            <a:gdLst>
              <a:gd name="connsiteX0" fmla="*/ 0 w 1060704"/>
              <a:gd name="connsiteY0" fmla="*/ 413806 h 413806"/>
              <a:gd name="connsiteX1" fmla="*/ 530352 w 1060704"/>
              <a:gd name="connsiteY1" fmla="*/ 0 h 413806"/>
              <a:gd name="connsiteX2" fmla="*/ 1060704 w 1060704"/>
              <a:gd name="connsiteY2" fmla="*/ 413806 h 413806"/>
              <a:gd name="connsiteX3" fmla="*/ 0 w 1060704"/>
              <a:gd name="connsiteY3" fmla="*/ 413806 h 413806"/>
              <a:gd name="connsiteX0" fmla="*/ 0 w 1060704"/>
              <a:gd name="connsiteY0" fmla="*/ 413806 h 413806"/>
              <a:gd name="connsiteX1" fmla="*/ 530352 w 1060704"/>
              <a:gd name="connsiteY1" fmla="*/ 0 h 413806"/>
              <a:gd name="connsiteX2" fmla="*/ 1060704 w 1060704"/>
              <a:gd name="connsiteY2" fmla="*/ 413806 h 413806"/>
              <a:gd name="connsiteX3" fmla="*/ 0 w 1060704"/>
              <a:gd name="connsiteY3" fmla="*/ 413806 h 413806"/>
              <a:gd name="connsiteX0" fmla="*/ 0 w 1060704"/>
              <a:gd name="connsiteY0" fmla="*/ 413823 h 413823"/>
              <a:gd name="connsiteX1" fmla="*/ 530352 w 1060704"/>
              <a:gd name="connsiteY1" fmla="*/ 17 h 413823"/>
              <a:gd name="connsiteX2" fmla="*/ 1060704 w 1060704"/>
              <a:gd name="connsiteY2" fmla="*/ 413823 h 413823"/>
              <a:gd name="connsiteX3" fmla="*/ 0 w 1060704"/>
              <a:gd name="connsiteY3" fmla="*/ 413823 h 413823"/>
              <a:gd name="connsiteX0" fmla="*/ 0 w 1060704"/>
              <a:gd name="connsiteY0" fmla="*/ 413823 h 413823"/>
              <a:gd name="connsiteX1" fmla="*/ 530352 w 1060704"/>
              <a:gd name="connsiteY1" fmla="*/ 17 h 413823"/>
              <a:gd name="connsiteX2" fmla="*/ 1060704 w 1060704"/>
              <a:gd name="connsiteY2" fmla="*/ 413823 h 413823"/>
              <a:gd name="connsiteX3" fmla="*/ 0 w 1060704"/>
              <a:gd name="connsiteY3" fmla="*/ 413823 h 413823"/>
              <a:gd name="connsiteX0" fmla="*/ 0 w 1060704"/>
              <a:gd name="connsiteY0" fmla="*/ 413821 h 413821"/>
              <a:gd name="connsiteX1" fmla="*/ 530352 w 1060704"/>
              <a:gd name="connsiteY1" fmla="*/ 15 h 413821"/>
              <a:gd name="connsiteX2" fmla="*/ 1060704 w 1060704"/>
              <a:gd name="connsiteY2" fmla="*/ 413821 h 413821"/>
              <a:gd name="connsiteX3" fmla="*/ 0 w 1060704"/>
              <a:gd name="connsiteY3" fmla="*/ 413821 h 413821"/>
            </a:gdLst>
            <a:ahLst/>
            <a:cxnLst>
              <a:cxn ang="0">
                <a:pos x="connsiteX0" y="connsiteY0"/>
              </a:cxn>
              <a:cxn ang="0">
                <a:pos x="connsiteX1" y="connsiteY1"/>
              </a:cxn>
              <a:cxn ang="0">
                <a:pos x="connsiteX2" y="connsiteY2"/>
              </a:cxn>
              <a:cxn ang="0">
                <a:pos x="connsiteX3" y="connsiteY3"/>
              </a:cxn>
            </a:cxnLst>
            <a:rect l="l" t="t" r="r" b="b"/>
            <a:pathLst>
              <a:path w="1060704" h="413821">
                <a:moveTo>
                  <a:pt x="0" y="413821"/>
                </a:moveTo>
                <a:cubicBezTo>
                  <a:pt x="217266" y="337799"/>
                  <a:pt x="351187" y="4600"/>
                  <a:pt x="530352" y="15"/>
                </a:cubicBezTo>
                <a:cubicBezTo>
                  <a:pt x="699992" y="-2544"/>
                  <a:pt x="838676" y="344943"/>
                  <a:pt x="1060704" y="413821"/>
                </a:cubicBezTo>
                <a:lnTo>
                  <a:pt x="0" y="413821"/>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2" name="Picture 1" descr="Microsoft Logo, symbol, meaning, history, PNG, brand">
            <a:extLst>
              <a:ext uri="{FF2B5EF4-FFF2-40B4-BE49-F238E27FC236}">
                <a16:creationId xmlns:a16="http://schemas.microsoft.com/office/drawing/2014/main" id="{1343019D-DD1A-303F-F400-89401811074A}"/>
              </a:ext>
            </a:extLst>
          </p:cNvPr>
          <p:cNvPicPr>
            <a:picLocks noChangeAspect="1"/>
          </p:cNvPicPr>
          <p:nvPr/>
        </p:nvPicPr>
        <p:blipFill>
          <a:blip r:embed="rId2"/>
          <a:stretch>
            <a:fillRect/>
          </a:stretch>
        </p:blipFill>
        <p:spPr>
          <a:xfrm>
            <a:off x="8651275" y="2663784"/>
            <a:ext cx="1868944" cy="1051281"/>
          </a:xfrm>
          <a:prstGeom prst="rect">
            <a:avLst/>
          </a:prstGeom>
        </p:spPr>
      </p:pic>
    </p:spTree>
    <p:extLst>
      <p:ext uri="{BB962C8B-B14F-4D97-AF65-F5344CB8AC3E}">
        <p14:creationId xmlns:p14="http://schemas.microsoft.com/office/powerpoint/2010/main" val="229959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9FFE3C-6161-E632-D534-D946CB1C2382}"/>
              </a:ext>
            </a:extLst>
          </p:cNvPr>
          <p:cNvSpPr txBox="1"/>
          <p:nvPr/>
        </p:nvSpPr>
        <p:spPr>
          <a:xfrm>
            <a:off x="530603" y="465753"/>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1A1A1A"/>
                </a:solidFill>
                <a:effectLst/>
                <a:uLnTx/>
                <a:uFillTx/>
                <a:latin typeface="Aptos Display" panose="02110004020202020204"/>
                <a:ea typeface="+mn-ea"/>
                <a:cs typeface="+mn-cs"/>
              </a:rPr>
              <a:t>Hack Team</a:t>
            </a:r>
            <a:endParaRPr kumimoji="0" lang="en-US" sz="2800" b="1"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pic>
        <p:nvPicPr>
          <p:cNvPr id="6" name="Picture 5">
            <a:extLst>
              <a:ext uri="{FF2B5EF4-FFF2-40B4-BE49-F238E27FC236}">
                <a16:creationId xmlns:a16="http://schemas.microsoft.com/office/drawing/2014/main" id="{C585D61F-8183-BF93-6093-830CA5B306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73138" y="1612560"/>
            <a:ext cx="1371600" cy="1371600"/>
          </a:xfrm>
          <a:prstGeom prst="ellipse">
            <a:avLst/>
          </a:prstGeom>
          <a:solidFill>
            <a:schemeClr val="tx1">
              <a:lumMod val="50000"/>
              <a:lumOff val="50000"/>
            </a:schemeClr>
          </a:solidFill>
          <a:ln>
            <a:solidFill>
              <a:schemeClr val="accent1"/>
            </a:solidFill>
          </a:ln>
        </p:spPr>
      </p:pic>
      <p:graphicFrame>
        <p:nvGraphicFramePr>
          <p:cNvPr id="8" name="Table 7">
            <a:extLst>
              <a:ext uri="{FF2B5EF4-FFF2-40B4-BE49-F238E27FC236}">
                <a16:creationId xmlns:a16="http://schemas.microsoft.com/office/drawing/2014/main" id="{03888040-60F0-7274-4C2B-1983FEE92E86}"/>
              </a:ext>
            </a:extLst>
          </p:cNvPr>
          <p:cNvGraphicFramePr>
            <a:graphicFrameLocks noGrp="1"/>
          </p:cNvGraphicFramePr>
          <p:nvPr>
            <p:extLst>
              <p:ext uri="{D42A27DB-BD31-4B8C-83A1-F6EECF244321}">
                <p14:modId xmlns:p14="http://schemas.microsoft.com/office/powerpoint/2010/main" val="305669752"/>
              </p:ext>
            </p:extLst>
          </p:nvPr>
        </p:nvGraphicFramePr>
        <p:xfrm>
          <a:off x="1013041"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pic>
        <p:nvPicPr>
          <p:cNvPr id="10" name="Picture 9">
            <a:extLst>
              <a:ext uri="{FF2B5EF4-FFF2-40B4-BE49-F238E27FC236}">
                <a16:creationId xmlns:a16="http://schemas.microsoft.com/office/drawing/2014/main" id="{288315DA-F53D-4696-9AE6-CEA024C763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27181" y="1612560"/>
            <a:ext cx="1371600" cy="1371600"/>
          </a:xfrm>
          <a:prstGeom prst="ellipse">
            <a:avLst/>
          </a:prstGeom>
          <a:ln>
            <a:solidFill>
              <a:schemeClr val="accent1"/>
            </a:solidFill>
          </a:ln>
        </p:spPr>
      </p:pic>
      <p:pic>
        <p:nvPicPr>
          <p:cNvPr id="12" name="Picture 11">
            <a:extLst>
              <a:ext uri="{FF2B5EF4-FFF2-40B4-BE49-F238E27FC236}">
                <a16:creationId xmlns:a16="http://schemas.microsoft.com/office/drawing/2014/main" id="{F0CFC240-22A6-0F06-3D73-9AD7F4D51D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81224" y="1612560"/>
            <a:ext cx="1371600" cy="1371600"/>
          </a:xfrm>
          <a:prstGeom prst="ellipse">
            <a:avLst/>
          </a:prstGeom>
          <a:ln>
            <a:solidFill>
              <a:schemeClr val="accent1"/>
            </a:solidFill>
          </a:ln>
        </p:spPr>
      </p:pic>
      <p:pic>
        <p:nvPicPr>
          <p:cNvPr id="14" name="Picture 13">
            <a:extLst>
              <a:ext uri="{FF2B5EF4-FFF2-40B4-BE49-F238E27FC236}">
                <a16:creationId xmlns:a16="http://schemas.microsoft.com/office/drawing/2014/main" id="{754EA529-A342-680C-B51A-4307974BF1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35267" y="1612560"/>
            <a:ext cx="1371600" cy="1371600"/>
          </a:xfrm>
          <a:prstGeom prst="ellipse">
            <a:avLst/>
          </a:prstGeom>
          <a:ln>
            <a:solidFill>
              <a:schemeClr val="accent1"/>
            </a:solidFill>
          </a:ln>
        </p:spPr>
      </p:pic>
      <p:pic>
        <p:nvPicPr>
          <p:cNvPr id="16" name="Picture 15">
            <a:extLst>
              <a:ext uri="{FF2B5EF4-FFF2-40B4-BE49-F238E27FC236}">
                <a16:creationId xmlns:a16="http://schemas.microsoft.com/office/drawing/2014/main" id="{39DA6284-18FC-19FF-D1C7-4ABD12D41C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89310" y="1612560"/>
            <a:ext cx="1371600" cy="1371600"/>
          </a:xfrm>
          <a:prstGeom prst="ellipse">
            <a:avLst/>
          </a:prstGeom>
          <a:ln>
            <a:solidFill>
              <a:schemeClr val="accent1"/>
            </a:solidFill>
          </a:ln>
        </p:spPr>
      </p:pic>
      <p:pic>
        <p:nvPicPr>
          <p:cNvPr id="18" name="Picture 17">
            <a:extLst>
              <a:ext uri="{FF2B5EF4-FFF2-40B4-BE49-F238E27FC236}">
                <a16:creationId xmlns:a16="http://schemas.microsoft.com/office/drawing/2014/main" id="{21798AF0-F98D-8DC2-D44E-9225B5AF83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743352" y="1612560"/>
            <a:ext cx="1371600" cy="1371600"/>
          </a:xfrm>
          <a:prstGeom prst="ellipse">
            <a:avLst/>
          </a:prstGeom>
          <a:ln>
            <a:solidFill>
              <a:schemeClr val="accent1"/>
            </a:solidFill>
          </a:ln>
        </p:spPr>
      </p:pic>
      <p:graphicFrame>
        <p:nvGraphicFramePr>
          <p:cNvPr id="20" name="Table 19">
            <a:extLst>
              <a:ext uri="{FF2B5EF4-FFF2-40B4-BE49-F238E27FC236}">
                <a16:creationId xmlns:a16="http://schemas.microsoft.com/office/drawing/2014/main" id="{96F4D91C-D364-D7CC-55CE-FDB55D4FB9AA}"/>
              </a:ext>
            </a:extLst>
          </p:cNvPr>
          <p:cNvGraphicFramePr>
            <a:graphicFrameLocks noGrp="1"/>
          </p:cNvGraphicFramePr>
          <p:nvPr>
            <p:extLst>
              <p:ext uri="{D42A27DB-BD31-4B8C-83A1-F6EECF244321}">
                <p14:modId xmlns:p14="http://schemas.microsoft.com/office/powerpoint/2010/main" val="3357671332"/>
              </p:ext>
            </p:extLst>
          </p:nvPr>
        </p:nvGraphicFramePr>
        <p:xfrm>
          <a:off x="2767084"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graphicFrame>
        <p:nvGraphicFramePr>
          <p:cNvPr id="22" name="Table 21">
            <a:extLst>
              <a:ext uri="{FF2B5EF4-FFF2-40B4-BE49-F238E27FC236}">
                <a16:creationId xmlns:a16="http://schemas.microsoft.com/office/drawing/2014/main" id="{3F3A8BC7-18BE-D208-DD9B-B1F83FDE267E}"/>
              </a:ext>
            </a:extLst>
          </p:cNvPr>
          <p:cNvGraphicFramePr>
            <a:graphicFrameLocks noGrp="1"/>
          </p:cNvGraphicFramePr>
          <p:nvPr>
            <p:extLst>
              <p:ext uri="{D42A27DB-BD31-4B8C-83A1-F6EECF244321}">
                <p14:modId xmlns:p14="http://schemas.microsoft.com/office/powerpoint/2010/main" val="3476619216"/>
              </p:ext>
            </p:extLst>
          </p:nvPr>
        </p:nvGraphicFramePr>
        <p:xfrm>
          <a:off x="4521127"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graphicFrame>
        <p:nvGraphicFramePr>
          <p:cNvPr id="24" name="Table 23">
            <a:extLst>
              <a:ext uri="{FF2B5EF4-FFF2-40B4-BE49-F238E27FC236}">
                <a16:creationId xmlns:a16="http://schemas.microsoft.com/office/drawing/2014/main" id="{A3B4729F-3D46-6DA1-82F5-D533FCB7488C}"/>
              </a:ext>
            </a:extLst>
          </p:cNvPr>
          <p:cNvGraphicFramePr>
            <a:graphicFrameLocks noGrp="1"/>
          </p:cNvGraphicFramePr>
          <p:nvPr>
            <p:extLst>
              <p:ext uri="{D42A27DB-BD31-4B8C-83A1-F6EECF244321}">
                <p14:modId xmlns:p14="http://schemas.microsoft.com/office/powerpoint/2010/main" val="1806469763"/>
              </p:ext>
            </p:extLst>
          </p:nvPr>
        </p:nvGraphicFramePr>
        <p:xfrm>
          <a:off x="6275170"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graphicFrame>
        <p:nvGraphicFramePr>
          <p:cNvPr id="26" name="Table 25">
            <a:extLst>
              <a:ext uri="{FF2B5EF4-FFF2-40B4-BE49-F238E27FC236}">
                <a16:creationId xmlns:a16="http://schemas.microsoft.com/office/drawing/2014/main" id="{E7E1E9E8-BF93-BE52-681F-C53ACFA32591}"/>
              </a:ext>
            </a:extLst>
          </p:cNvPr>
          <p:cNvGraphicFramePr>
            <a:graphicFrameLocks noGrp="1"/>
          </p:cNvGraphicFramePr>
          <p:nvPr>
            <p:extLst>
              <p:ext uri="{D42A27DB-BD31-4B8C-83A1-F6EECF244321}">
                <p14:modId xmlns:p14="http://schemas.microsoft.com/office/powerpoint/2010/main" val="4192499980"/>
              </p:ext>
            </p:extLst>
          </p:nvPr>
        </p:nvGraphicFramePr>
        <p:xfrm>
          <a:off x="8029213"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graphicFrame>
        <p:nvGraphicFramePr>
          <p:cNvPr id="28" name="Table 27">
            <a:extLst>
              <a:ext uri="{FF2B5EF4-FFF2-40B4-BE49-F238E27FC236}">
                <a16:creationId xmlns:a16="http://schemas.microsoft.com/office/drawing/2014/main" id="{64E60F1D-4903-94ED-D7C9-DC33C0DDDDD4}"/>
              </a:ext>
            </a:extLst>
          </p:cNvPr>
          <p:cNvGraphicFramePr>
            <a:graphicFrameLocks noGrp="1"/>
          </p:cNvGraphicFramePr>
          <p:nvPr>
            <p:extLst>
              <p:ext uri="{D42A27DB-BD31-4B8C-83A1-F6EECF244321}">
                <p14:modId xmlns:p14="http://schemas.microsoft.com/office/powerpoint/2010/main" val="1346546376"/>
              </p:ext>
            </p:extLst>
          </p:nvPr>
        </p:nvGraphicFramePr>
        <p:xfrm>
          <a:off x="9783255" y="3155708"/>
          <a:ext cx="1291793" cy="281940"/>
        </p:xfrm>
        <a:graphic>
          <a:graphicData uri="http://schemas.openxmlformats.org/drawingml/2006/table">
            <a:tbl>
              <a:tblPr/>
              <a:tblGrid>
                <a:gridCol w="1291793">
                  <a:extLst>
                    <a:ext uri="{9D8B030D-6E8A-4147-A177-3AD203B41FA5}">
                      <a16:colId xmlns:a16="http://schemas.microsoft.com/office/drawing/2014/main" val="1103025908"/>
                    </a:ext>
                  </a:extLst>
                </a:gridCol>
              </a:tblGrid>
              <a:tr h="158741">
                <a:tc>
                  <a:txBody>
                    <a:bodyPr/>
                    <a:lstStyle/>
                    <a:p>
                      <a:pPr algn="ctr" fontAlgn="t">
                        <a:lnSpc>
                          <a:spcPts val="1500"/>
                        </a:lnSpc>
                        <a:buNone/>
                      </a:pPr>
                      <a:r>
                        <a:rPr lang="en-US" sz="1050" i="1" dirty="0"/>
                        <a:t>&lt;NAME&gt;</a:t>
                      </a:r>
                      <a:endParaRPr lang="en-US" sz="1050" b="0" i="1" dirty="0">
                        <a:effectLst/>
                        <a:latin typeface="Segoe UI" panose="020B0502040204020203" pitchFamily="34" charset="0"/>
                      </a:endParaRP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89423403"/>
                  </a:ext>
                </a:extLst>
              </a:tr>
            </a:tbl>
          </a:graphicData>
        </a:graphic>
      </p:graphicFrame>
      <p:graphicFrame>
        <p:nvGraphicFramePr>
          <p:cNvPr id="3" name="Table 2">
            <a:extLst>
              <a:ext uri="{FF2B5EF4-FFF2-40B4-BE49-F238E27FC236}">
                <a16:creationId xmlns:a16="http://schemas.microsoft.com/office/drawing/2014/main" id="{0E1FA11D-96F7-EC45-205B-A3A6F2625FB9}"/>
              </a:ext>
            </a:extLst>
          </p:cNvPr>
          <p:cNvGraphicFramePr>
            <a:graphicFrameLocks noGrp="1"/>
          </p:cNvGraphicFramePr>
          <p:nvPr>
            <p:extLst>
              <p:ext uri="{D42A27DB-BD31-4B8C-83A1-F6EECF244321}">
                <p14:modId xmlns:p14="http://schemas.microsoft.com/office/powerpoint/2010/main" val="66348937"/>
              </p:ext>
            </p:extLst>
          </p:nvPr>
        </p:nvGraphicFramePr>
        <p:xfrm>
          <a:off x="530603" y="3962402"/>
          <a:ext cx="10889672" cy="2124361"/>
        </p:xfrm>
        <a:graphic>
          <a:graphicData uri="http://schemas.openxmlformats.org/drawingml/2006/table">
            <a:tbl>
              <a:tblPr/>
              <a:tblGrid>
                <a:gridCol w="2212597">
                  <a:extLst>
                    <a:ext uri="{9D8B030D-6E8A-4147-A177-3AD203B41FA5}">
                      <a16:colId xmlns:a16="http://schemas.microsoft.com/office/drawing/2014/main" val="3837900683"/>
                    </a:ext>
                  </a:extLst>
                </a:gridCol>
                <a:gridCol w="8677075">
                  <a:extLst>
                    <a:ext uri="{9D8B030D-6E8A-4147-A177-3AD203B41FA5}">
                      <a16:colId xmlns:a16="http://schemas.microsoft.com/office/drawing/2014/main" val="2834952688"/>
                    </a:ext>
                  </a:extLst>
                </a:gridCol>
              </a:tblGrid>
              <a:tr h="361691">
                <a:tc>
                  <a:txBody>
                    <a:bodyPr/>
                    <a:lstStyle/>
                    <a:p>
                      <a:pPr algn="ctr" fontAlgn="ctr">
                        <a:buNone/>
                      </a:pPr>
                      <a:endParaRPr lang="en-US" sz="1000" b="1" i="0" u="none" strike="noStrike" dirty="0">
                        <a:solidFill>
                          <a:srgbClr val="FFFFFF"/>
                        </a:solidFill>
                        <a:effectLst/>
                        <a:latin typeface="+mn-lt"/>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US" sz="1000" b="1" i="0" u="none" strike="noStrike" dirty="0">
                          <a:solidFill>
                            <a:srgbClr val="FFFFFF"/>
                          </a:solidFill>
                          <a:effectLst/>
                          <a:latin typeface="+mn-lt"/>
                          <a:cs typeface="Segoe UI" panose="020B0502040204020203" pitchFamily="34" charset="0"/>
                        </a:rPr>
                        <a:t>Description</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85367349"/>
                  </a:ext>
                </a:extLst>
              </a:tr>
              <a:tr h="361691">
                <a:tc>
                  <a:txBody>
                    <a:bodyPr/>
                    <a:lstStyle/>
                    <a:p>
                      <a:pPr marL="50800" indent="0" algn="l" fontAlgn="t">
                        <a:buNone/>
                      </a:pPr>
                      <a:r>
                        <a:rPr lang="en-US" sz="1000" b="1" i="0" u="none" strike="noStrike" dirty="0">
                          <a:solidFill>
                            <a:schemeClr val="tx1"/>
                          </a:solidFill>
                          <a:effectLst/>
                          <a:latin typeface="+mn-lt"/>
                          <a:cs typeface="Segoe UI" panose="020B0502040204020203" pitchFamily="34" charset="0"/>
                        </a:rPr>
                        <a:t>Team Name</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indent="0" algn="l" defTabSz="914400" rtl="0" eaLnBrk="1" fontAlgn="t" latinLnBrk="0" hangingPunct="1">
                        <a:buNone/>
                      </a:pPr>
                      <a:r>
                        <a:rPr lang="en-US" sz="1000" b="0" i="1" u="none" strike="noStrike" kern="1200" dirty="0">
                          <a:solidFill>
                            <a:srgbClr val="666666"/>
                          </a:solidFill>
                          <a:effectLst/>
                          <a:latin typeface="+mn-lt"/>
                          <a:ea typeface="+mn-ea"/>
                          <a:cs typeface="Segoe UI" panose="020B0502040204020203" pitchFamily="34" charset="0"/>
                        </a:rPr>
                        <a:t>[YOUR TEAM NAME - fill this]</a:t>
                      </a:r>
                      <a:endParaRPr lang="en-US" sz="1000" b="0" i="0" u="none" strike="noStrike" kern="1200" dirty="0">
                        <a:solidFill>
                          <a:schemeClr val="tx1"/>
                        </a:solidFill>
                        <a:effectLst/>
                        <a:latin typeface="+mn-lt"/>
                        <a:ea typeface="+mn-ea"/>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1949689"/>
                  </a:ext>
                </a:extLst>
              </a:tr>
              <a:tr h="662443">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Chosen Challenge Statement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marR="0" lvl="0" indent="0" algn="l" defTabSz="914400" rtl="0" eaLnBrk="1" fontAlgn="t" latinLnBrk="0" hangingPunct="1">
                        <a:lnSpc>
                          <a:spcPts val="1500"/>
                        </a:lnSpc>
                        <a:spcBef>
                          <a:spcPts val="0"/>
                        </a:spcBef>
                        <a:spcAft>
                          <a:spcPts val="0"/>
                        </a:spcAft>
                        <a:buClrTx/>
                        <a:buSzTx/>
                        <a:buFontTx/>
                        <a:buNone/>
                        <a:tabLst/>
                        <a:defRPr/>
                      </a:pPr>
                      <a:r>
                        <a:rPr lang="en-US" sz="1000" b="0" i="1" u="none" strike="noStrike" kern="1200" dirty="0">
                          <a:solidFill>
                            <a:srgbClr val="666666"/>
                          </a:solidFill>
                          <a:effectLst/>
                          <a:latin typeface="+mn-lt"/>
                          <a:ea typeface="+mn-ea"/>
                          <a:cs typeface="Segoe UI" panose="020B0502040204020203" pitchFamily="34" charset="0"/>
                        </a:rPr>
                        <a:t>Smart AML Fraud Detection using Microsoft Fabric — Real-time transaction monitoring with KQL rules, ML scoring, AI investigation agents, and graph-based money flow analysis</a:t>
                      </a:r>
                      <a:endParaRPr lang="en-US" sz="1000" b="0" i="0" u="none" strike="noStrike" kern="1200" dirty="0">
                        <a:solidFill>
                          <a:schemeClr val="tx1"/>
                        </a:solidFill>
                        <a:effectLst/>
                        <a:latin typeface="+mn-lt"/>
                        <a:ea typeface="+mn-ea"/>
                        <a:cs typeface="Segoe UI" panose="020B0502040204020203"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839416"/>
                  </a:ext>
                </a:extLst>
              </a:tr>
              <a:tr h="369268">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Idea Name</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indent="0" algn="l" defTabSz="914400" rtl="0" eaLnBrk="1" fontAlgn="t" latinLnBrk="0" hangingPunct="1">
                        <a:buNone/>
                      </a:pPr>
                      <a:r>
                        <a:rPr lang="en-US" sz="1000" b="0" i="1" u="none" strike="noStrike" kern="1200" dirty="0">
                          <a:solidFill>
                            <a:srgbClr val="666666"/>
                          </a:solidFill>
                          <a:effectLst/>
                          <a:latin typeface="+mn-lt"/>
                          <a:ea typeface="+mn-ea"/>
                          <a:cs typeface="Segoe UI" panose="020B0502040204020203" pitchFamily="34" charset="0"/>
                        </a:rPr>
                        <a:t>SMART AML DETECTION — Real-Time Anti-Money Laundering on Microsoft Fabric</a:t>
                      </a: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6692221"/>
                  </a:ext>
                </a:extLst>
              </a:tr>
              <a:tr h="369268">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Problem Statement</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indent="0" algn="l" defTabSz="914400" rtl="0" eaLnBrk="1" fontAlgn="t" latinLnBrk="0" hangingPunct="1">
                        <a:buNone/>
                      </a:pPr>
                      <a:r>
                        <a:rPr lang="en-US" sz="1000" b="0" i="1" u="none" strike="noStrike" kern="1200" dirty="0">
                          <a:solidFill>
                            <a:srgbClr val="666666"/>
                          </a:solidFill>
                          <a:effectLst/>
                          <a:latin typeface="+mn-lt"/>
                          <a:ea typeface="+mn-ea"/>
                          <a:cs typeface="Segoe UI" panose="020B0502040204020203" pitchFamily="34" charset="0"/>
                        </a:rPr>
                        <a:t>Banks lose billions to money laundering annually. Current AML systems run nightly batch rules with 90-95% false positives, cannot detect unknown fraud patterns, and miss sophisticated schemes like circular money flows through intermediaries. Compliance teams waste 80% of their time on false alerts while real fraud goes undetected for days. Our solution detects fraud in 2-3 seconds, catches unknown patterns via ML, traces money through any number of intermediary accounts, and explains itself in plain English.</a:t>
                      </a: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7537464"/>
                  </a:ext>
                </a:extLst>
              </a:tr>
            </a:tbl>
          </a:graphicData>
        </a:graphic>
      </p:graphicFrame>
    </p:spTree>
    <p:extLst>
      <p:ext uri="{BB962C8B-B14F-4D97-AF65-F5344CB8AC3E}">
        <p14:creationId xmlns:p14="http://schemas.microsoft.com/office/powerpoint/2010/main" val="3198515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F5CF-78B4-51BC-72BD-4401737780A5}"/>
            </a:ext>
          </a:extLst>
        </p:cNvPr>
        <p:cNvGrpSpPr/>
        <p:nvPr/>
      </p:nvGrpSpPr>
      <p:grpSpPr>
        <a:xfrm>
          <a:off x="0" y="0"/>
          <a:ext cx="0" cy="0"/>
          <a:chOff x="0" y="0"/>
          <a:chExt cx="0" cy="0"/>
        </a:xfrm>
      </p:grpSpPr>
      <p:sp>
        <p:nvSpPr>
          <p:cNvPr id="12" name="Shape 90">
            <a:extLst>
              <a:ext uri="{FF2B5EF4-FFF2-40B4-BE49-F238E27FC236}">
                <a16:creationId xmlns:a16="http://schemas.microsoft.com/office/drawing/2014/main" id="{1322DCED-01B3-B51F-36EB-DDC79C4D85F1}"/>
              </a:ext>
            </a:extLst>
          </p:cNvPr>
          <p:cNvSpPr/>
          <p:nvPr/>
        </p:nvSpPr>
        <p:spPr>
          <a:xfrm>
            <a:off x="891334" y="3139353"/>
            <a:ext cx="4294674" cy="1382181"/>
          </a:xfrm>
          <a:prstGeom prst="rect">
            <a:avLst/>
          </a:prstGeom>
          <a:solidFill>
            <a:srgbClr val="FFFFFF"/>
          </a:solidFill>
          <a:ln w="6350">
            <a:solidFill>
              <a:srgbClr val="D9D9D9"/>
            </a:solidFill>
            <a:prstDash val="solid"/>
          </a:ln>
        </p:spPr>
        <p:txBody>
          <a:bodyPr/>
          <a:lstStyle/>
          <a:p>
            <a:endParaRPr lang="en-US"/>
          </a:p>
        </p:txBody>
      </p:sp>
      <p:sp>
        <p:nvSpPr>
          <p:cNvPr id="50" name="Rectangle: Rounded Corners 49">
            <a:extLst>
              <a:ext uri="{FF2B5EF4-FFF2-40B4-BE49-F238E27FC236}">
                <a16:creationId xmlns:a16="http://schemas.microsoft.com/office/drawing/2014/main" id="{24A8C7BB-9D4B-ED5E-ED9B-840FDE86A839}"/>
              </a:ext>
            </a:extLst>
          </p:cNvPr>
          <p:cNvSpPr/>
          <p:nvPr/>
        </p:nvSpPr>
        <p:spPr>
          <a:xfrm>
            <a:off x="5595202" y="1394178"/>
            <a:ext cx="3576508" cy="3182773"/>
          </a:xfrm>
          <a:prstGeom prst="roundRect">
            <a:avLst>
              <a:gd name="adj" fmla="val 5623"/>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132BB5-A6D8-1266-1203-45A5FA25FDD9}"/>
              </a:ext>
            </a:extLst>
          </p:cNvPr>
          <p:cNvSpPr txBox="1"/>
          <p:nvPr/>
        </p:nvSpPr>
        <p:spPr>
          <a:xfrm>
            <a:off x="567548" y="438044"/>
            <a:ext cx="4891143" cy="523220"/>
          </a:xfrm>
          <a:prstGeom prst="rect">
            <a:avLst/>
          </a:prstGeom>
          <a:noFill/>
        </p:spPr>
        <p:txBody>
          <a:bodyPr wrap="square">
            <a:spAutoFit/>
          </a:bodyPr>
          <a:lstStyle/>
          <a:p>
            <a:pPr lvl="0">
              <a:defRPr/>
            </a:pPr>
            <a:r>
              <a:rPr lang="en-IN" sz="2800" dirty="0"/>
              <a:t>Solution Build &amp; Submission</a:t>
            </a:r>
            <a:r>
              <a:rPr kumimoji="0" lang="en-IN" sz="2800" b="0" i="0" u="none" strike="noStrike" kern="1200" cap="none" spc="0" normalizeH="0" baseline="0" noProof="0" dirty="0">
                <a:ln>
                  <a:noFill/>
                </a:ln>
                <a:solidFill>
                  <a:srgbClr val="1A1A1A"/>
                </a:solidFill>
                <a:effectLst/>
                <a:uLnTx/>
                <a:uFillTx/>
                <a:latin typeface="Aptos Display" panose="02110004020202020204"/>
                <a:ea typeface="+mn-ea"/>
                <a:cs typeface="+mn-cs"/>
              </a:rPr>
              <a:t xml:space="preserve"> </a:t>
            </a:r>
            <a:endParaRPr kumimoji="0" lang="en-US" sz="2800" b="0"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sp>
        <p:nvSpPr>
          <p:cNvPr id="14" name="Rectangle 13">
            <a:extLst>
              <a:ext uri="{FF2B5EF4-FFF2-40B4-BE49-F238E27FC236}">
                <a16:creationId xmlns:a16="http://schemas.microsoft.com/office/drawing/2014/main" id="{12BC4D37-79AD-E44B-D51F-972E0E766361}"/>
              </a:ext>
            </a:extLst>
          </p:cNvPr>
          <p:cNvSpPr/>
          <p:nvPr/>
        </p:nvSpPr>
        <p:spPr>
          <a:xfrm>
            <a:off x="9587345" y="0"/>
            <a:ext cx="2290619" cy="6858000"/>
          </a:xfrm>
          <a:prstGeom prst="rect">
            <a:avLst/>
          </a:prstGeom>
          <a:solidFill>
            <a:srgbClr val="F7DF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4" descr="Circular diagram titled “Frontier Transformation” with five interconnected components:  Business Strategy – The alignment of AI investments with strategic business outcomes and measurable impact. Organization &amp; Culture – The vision, operating model, skills, resources, and culture to drive AI adoption. AI Strategy &amp; Experience – The organization’s AI expertise and repeatable processes to create sustainable value. AI Governance &amp; Security – The controls and processes to ensure secure, compliant, and responsible AI. Technology &amp; Data Strategy – The data and infrastructure needed to run AI solutions at scale securely and reliably.">
            <a:extLst>
              <a:ext uri="{FF2B5EF4-FFF2-40B4-BE49-F238E27FC236}">
                <a16:creationId xmlns:a16="http://schemas.microsoft.com/office/drawing/2014/main" id="{913014E0-D799-F855-1F6F-DC8613078283}"/>
              </a:ext>
              <a:ext uri="{C183D7F6-B498-43B3-948B-1728B52AA6E4}">
                <adec:decorative xmlns:adec="http://schemas.microsoft.com/office/drawing/2017/decorative" val="0"/>
              </a:ext>
            </a:extLst>
          </p:cNvPr>
          <p:cNvSpPr>
            <a:spLocks/>
          </p:cNvSpPr>
          <p:nvPr/>
        </p:nvSpPr>
        <p:spPr bwMode="auto">
          <a:xfrm>
            <a:off x="9976692" y="1689376"/>
            <a:ext cx="1550669" cy="367761"/>
          </a:xfrm>
          <a:prstGeom prst="roundRect">
            <a:avLst>
              <a:gd name="adj" fmla="val 3490"/>
            </a:avLst>
          </a:prstGeom>
          <a:solidFill>
            <a:schemeClr val="bg1">
              <a:lumMod val="95000"/>
            </a:schemeClr>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30000" noProof="0">
              <a:ln>
                <a:noFill/>
              </a:ln>
              <a:solidFill>
                <a:srgbClr val="FFFFFF"/>
              </a:solidFill>
              <a:effectLst/>
              <a:uLnTx/>
              <a:uFillTx/>
              <a:latin typeface="Segoe UI"/>
              <a:ea typeface="+mn-ea"/>
              <a:cs typeface="Segoe UI" pitchFamily="34" charset="0"/>
            </a:endParaRPr>
          </a:p>
        </p:txBody>
      </p:sp>
      <p:sp>
        <p:nvSpPr>
          <p:cNvPr id="20" name="Rectangle: Rounded Corners 19">
            <a:extLst>
              <a:ext uri="{FF2B5EF4-FFF2-40B4-BE49-F238E27FC236}">
                <a16:creationId xmlns:a16="http://schemas.microsoft.com/office/drawing/2014/main" id="{CE09D91C-DF1D-C33C-8AC3-75AC3778F9F0}"/>
              </a:ext>
            </a:extLst>
          </p:cNvPr>
          <p:cNvSpPr/>
          <p:nvPr/>
        </p:nvSpPr>
        <p:spPr>
          <a:xfrm>
            <a:off x="9965852" y="1350036"/>
            <a:ext cx="1580364" cy="367761"/>
          </a:xfrm>
          <a:prstGeom prst="roundRect">
            <a:avLst/>
          </a:prstGeom>
          <a:solidFill>
            <a:srgbClr val="FD5E49"/>
          </a:solidFill>
          <a:ln w="6350">
            <a:noFill/>
          </a:ln>
          <a:effectLst>
            <a:outerShdw blurRad="127000" dist="38100" dir="2700000" algn="tl" rotWithShape="0">
              <a:prstClr val="black">
                <a:alpha val="12000"/>
              </a:prstClr>
            </a:outerShdw>
          </a:effectLst>
        </p:spPr>
        <p:txBody>
          <a:bodyPr wrap="square" lIns="45720" tIns="0" rIns="45720" bIns="91440" rtlCol="0" anchor="b" anchorCtr="0">
            <a:noAutofit/>
          </a:bodyPr>
          <a:lstStyle/>
          <a:p>
            <a:pPr algn="ctr" defTabSz="914225"/>
            <a:r>
              <a:rPr lang="en-US" sz="1050" b="1">
                <a:solidFill>
                  <a:schemeClr val="bg1"/>
                </a:solidFill>
                <a:latin typeface="Segoe UI"/>
              </a:rPr>
              <a:t>Submission Build</a:t>
            </a:r>
          </a:p>
        </p:txBody>
      </p:sp>
      <p:sp>
        <p:nvSpPr>
          <p:cNvPr id="22" name="TextBox 21">
            <a:extLst>
              <a:ext uri="{FF2B5EF4-FFF2-40B4-BE49-F238E27FC236}">
                <a16:creationId xmlns:a16="http://schemas.microsoft.com/office/drawing/2014/main" id="{46D3E278-9910-869B-DD9D-32C09A639B60}"/>
              </a:ext>
            </a:extLst>
          </p:cNvPr>
          <p:cNvSpPr txBox="1"/>
          <p:nvPr/>
        </p:nvSpPr>
        <p:spPr>
          <a:xfrm>
            <a:off x="10108799" y="1751781"/>
            <a:ext cx="1294470" cy="261610"/>
          </a:xfrm>
          <a:prstGeom prst="rect">
            <a:avLst/>
          </a:prstGeom>
          <a:noFill/>
        </p:spPr>
        <p:txBody>
          <a:bodyPr wrap="square" rtlCol="0">
            <a:spAutoFit/>
          </a:bodyPr>
          <a:lstStyle/>
          <a:p>
            <a:pPr algn="ctr"/>
            <a:r>
              <a:rPr lang="en-US" sz="1100" b="1">
                <a:solidFill>
                  <a:srgbClr val="000000"/>
                </a:solidFill>
                <a:latin typeface="Segoe UI"/>
              </a:rPr>
              <a:t>Jun 01 – Jun 12</a:t>
            </a:r>
          </a:p>
        </p:txBody>
      </p:sp>
      <p:sp>
        <p:nvSpPr>
          <p:cNvPr id="24" name="Rectangle: Rounded Corners 4" descr="Circular diagram titled “Frontier Transformation” with five interconnected components:  Business Strategy – The alignment of AI investments with strategic business outcomes and measurable impact. Organization &amp; Culture – The vision, operating model, skills, resources, and culture to drive AI adoption. AI Strategy &amp; Experience – The organization’s AI expertise and repeatable processes to create sustainable value. AI Governance &amp; Security – The controls and processes to ensure secure, compliant, and responsible AI. Technology &amp; Data Strategy – The data and infrastructure needed to run AI solutions at scale securely and reliably.">
            <a:extLst>
              <a:ext uri="{FF2B5EF4-FFF2-40B4-BE49-F238E27FC236}">
                <a16:creationId xmlns:a16="http://schemas.microsoft.com/office/drawing/2014/main" id="{F023CC46-7D0B-EB95-785F-98929939C282}"/>
              </a:ext>
              <a:ext uri="{C183D7F6-B498-43B3-948B-1728B52AA6E4}">
                <adec:decorative xmlns:adec="http://schemas.microsoft.com/office/drawing/2017/decorative" val="0"/>
              </a:ext>
            </a:extLst>
          </p:cNvPr>
          <p:cNvSpPr>
            <a:spLocks/>
          </p:cNvSpPr>
          <p:nvPr/>
        </p:nvSpPr>
        <p:spPr bwMode="auto">
          <a:xfrm>
            <a:off x="9985928" y="2651778"/>
            <a:ext cx="1550669" cy="367761"/>
          </a:xfrm>
          <a:prstGeom prst="roundRect">
            <a:avLst>
              <a:gd name="adj" fmla="val 3490"/>
            </a:avLst>
          </a:prstGeom>
          <a:solidFill>
            <a:schemeClr val="bg1">
              <a:lumMod val="95000"/>
            </a:schemeClr>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30000" noProof="0">
              <a:ln>
                <a:noFill/>
              </a:ln>
              <a:solidFill>
                <a:srgbClr val="FFFFFF"/>
              </a:solidFill>
              <a:effectLst/>
              <a:uLnTx/>
              <a:uFillTx/>
              <a:latin typeface="Segoe UI"/>
              <a:ea typeface="+mn-ea"/>
              <a:cs typeface="Segoe UI" pitchFamily="34" charset="0"/>
            </a:endParaRPr>
          </a:p>
        </p:txBody>
      </p:sp>
      <p:sp>
        <p:nvSpPr>
          <p:cNvPr id="26" name="Rectangle: Rounded Corners 25">
            <a:extLst>
              <a:ext uri="{FF2B5EF4-FFF2-40B4-BE49-F238E27FC236}">
                <a16:creationId xmlns:a16="http://schemas.microsoft.com/office/drawing/2014/main" id="{77E3E6DC-AB7E-D2DA-9334-2EED11F7C89B}"/>
              </a:ext>
            </a:extLst>
          </p:cNvPr>
          <p:cNvSpPr/>
          <p:nvPr/>
        </p:nvSpPr>
        <p:spPr>
          <a:xfrm>
            <a:off x="9975088" y="2312438"/>
            <a:ext cx="1580364" cy="367761"/>
          </a:xfrm>
          <a:prstGeom prst="roundRect">
            <a:avLst/>
          </a:prstGeom>
          <a:solidFill>
            <a:srgbClr val="FD5E49"/>
          </a:solidFill>
          <a:ln w="6350">
            <a:noFill/>
          </a:ln>
          <a:effectLst>
            <a:outerShdw blurRad="127000" dist="38100" dir="2700000" algn="tl" rotWithShape="0">
              <a:prstClr val="black">
                <a:alpha val="12000"/>
              </a:prstClr>
            </a:outerShdw>
          </a:effectLst>
        </p:spPr>
        <p:txBody>
          <a:bodyPr wrap="square" lIns="45720" tIns="0" rIns="45720" bIns="91440" rtlCol="0" anchor="b" anchorCtr="0">
            <a:noAutofit/>
          </a:bodyPr>
          <a:lstStyle/>
          <a:p>
            <a:pPr algn="ctr" defTabSz="914225"/>
            <a:r>
              <a:rPr lang="en-US" sz="1050" b="1">
                <a:solidFill>
                  <a:schemeClr val="bg1"/>
                </a:solidFill>
                <a:latin typeface="Segoe UI"/>
              </a:rPr>
              <a:t>Evaluation Window</a:t>
            </a:r>
          </a:p>
        </p:txBody>
      </p:sp>
      <p:sp>
        <p:nvSpPr>
          <p:cNvPr id="28" name="TextBox 27">
            <a:extLst>
              <a:ext uri="{FF2B5EF4-FFF2-40B4-BE49-F238E27FC236}">
                <a16:creationId xmlns:a16="http://schemas.microsoft.com/office/drawing/2014/main" id="{2B34A5E8-019D-D9C2-0C32-CEE3678056C6}"/>
              </a:ext>
            </a:extLst>
          </p:cNvPr>
          <p:cNvSpPr txBox="1"/>
          <p:nvPr/>
        </p:nvSpPr>
        <p:spPr>
          <a:xfrm>
            <a:off x="10118035" y="2714183"/>
            <a:ext cx="1294470" cy="261610"/>
          </a:xfrm>
          <a:prstGeom prst="rect">
            <a:avLst/>
          </a:prstGeom>
          <a:noFill/>
        </p:spPr>
        <p:txBody>
          <a:bodyPr wrap="square" rtlCol="0">
            <a:spAutoFit/>
          </a:bodyPr>
          <a:lstStyle/>
          <a:p>
            <a:pPr algn="ctr"/>
            <a:r>
              <a:rPr lang="en-US" sz="1100" b="1">
                <a:solidFill>
                  <a:srgbClr val="000000"/>
                </a:solidFill>
                <a:latin typeface="Segoe UI"/>
              </a:rPr>
              <a:t>Jun 15 – Jun 24</a:t>
            </a:r>
          </a:p>
        </p:txBody>
      </p:sp>
      <p:sp>
        <p:nvSpPr>
          <p:cNvPr id="32" name="Rectangle: Rounded Corners 4" descr="Circular diagram titled “Frontier Transformation” with five interconnected components:  Business Strategy – The alignment of AI investments with strategic business outcomes and measurable impact. Organization &amp; Culture – The vision, operating model, skills, resources, and culture to drive AI adoption. AI Strategy &amp; Experience – The organization’s AI expertise and repeatable processes to create sustainable value. AI Governance &amp; Security – The controls and processes to ensure secure, compliant, and responsible AI. Technology &amp; Data Strategy – The data and infrastructure needed to run AI solutions at scale securely and reliably.">
            <a:extLst>
              <a:ext uri="{FF2B5EF4-FFF2-40B4-BE49-F238E27FC236}">
                <a16:creationId xmlns:a16="http://schemas.microsoft.com/office/drawing/2014/main" id="{9C6E5142-ACBC-2123-E21A-8F05C6B3CCF8}"/>
              </a:ext>
              <a:ext uri="{C183D7F6-B498-43B3-948B-1728B52AA6E4}">
                <adec:decorative xmlns:adec="http://schemas.microsoft.com/office/drawing/2017/decorative" val="0"/>
              </a:ext>
            </a:extLst>
          </p:cNvPr>
          <p:cNvSpPr>
            <a:spLocks/>
          </p:cNvSpPr>
          <p:nvPr/>
        </p:nvSpPr>
        <p:spPr bwMode="auto">
          <a:xfrm>
            <a:off x="9985928" y="3633892"/>
            <a:ext cx="1550669" cy="367761"/>
          </a:xfrm>
          <a:prstGeom prst="roundRect">
            <a:avLst>
              <a:gd name="adj" fmla="val 3490"/>
            </a:avLst>
          </a:prstGeom>
          <a:solidFill>
            <a:schemeClr val="bg1">
              <a:lumMod val="95000"/>
            </a:schemeClr>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30000" noProof="0">
              <a:ln>
                <a:noFill/>
              </a:ln>
              <a:solidFill>
                <a:srgbClr val="FFFFFF"/>
              </a:solidFill>
              <a:effectLst/>
              <a:uLnTx/>
              <a:uFillTx/>
              <a:latin typeface="Segoe UI"/>
              <a:ea typeface="+mn-ea"/>
              <a:cs typeface="Segoe UI" pitchFamily="34" charset="0"/>
            </a:endParaRPr>
          </a:p>
        </p:txBody>
      </p:sp>
      <p:sp>
        <p:nvSpPr>
          <p:cNvPr id="34" name="Rectangle: Rounded Corners 33">
            <a:extLst>
              <a:ext uri="{FF2B5EF4-FFF2-40B4-BE49-F238E27FC236}">
                <a16:creationId xmlns:a16="http://schemas.microsoft.com/office/drawing/2014/main" id="{943CF467-D6B8-CC0C-16CE-03A4736C1F1F}"/>
              </a:ext>
            </a:extLst>
          </p:cNvPr>
          <p:cNvSpPr/>
          <p:nvPr/>
        </p:nvSpPr>
        <p:spPr>
          <a:xfrm>
            <a:off x="9975088" y="3294552"/>
            <a:ext cx="1580364" cy="367761"/>
          </a:xfrm>
          <a:prstGeom prst="roundRect">
            <a:avLst/>
          </a:prstGeom>
          <a:solidFill>
            <a:srgbClr val="FD5E49"/>
          </a:solidFill>
          <a:ln w="6350">
            <a:noFill/>
          </a:ln>
          <a:effectLst>
            <a:outerShdw blurRad="127000" dist="38100" dir="2700000" algn="tl" rotWithShape="0">
              <a:prstClr val="black">
                <a:alpha val="12000"/>
              </a:prstClr>
            </a:outerShdw>
          </a:effectLst>
        </p:spPr>
        <p:txBody>
          <a:bodyPr wrap="square" lIns="45720" tIns="0" rIns="45720" bIns="91440" rtlCol="0" anchor="t" anchorCtr="0">
            <a:noAutofit/>
          </a:bodyPr>
          <a:lstStyle/>
          <a:p>
            <a:pPr algn="ctr" defTabSz="914225"/>
            <a:r>
              <a:rPr lang="en-US" sz="1050" b="1">
                <a:solidFill>
                  <a:schemeClr val="bg1"/>
                </a:solidFill>
                <a:latin typeface="Segoe UI"/>
              </a:rPr>
              <a:t>Winner Announcement</a:t>
            </a:r>
          </a:p>
        </p:txBody>
      </p:sp>
      <p:sp>
        <p:nvSpPr>
          <p:cNvPr id="36" name="TextBox 35">
            <a:extLst>
              <a:ext uri="{FF2B5EF4-FFF2-40B4-BE49-F238E27FC236}">
                <a16:creationId xmlns:a16="http://schemas.microsoft.com/office/drawing/2014/main" id="{FC8A2FB9-E491-C2D6-6941-A6436D215500}"/>
              </a:ext>
            </a:extLst>
          </p:cNvPr>
          <p:cNvSpPr txBox="1"/>
          <p:nvPr/>
        </p:nvSpPr>
        <p:spPr>
          <a:xfrm>
            <a:off x="10118035" y="3696297"/>
            <a:ext cx="1294470" cy="261610"/>
          </a:xfrm>
          <a:prstGeom prst="rect">
            <a:avLst/>
          </a:prstGeom>
          <a:noFill/>
        </p:spPr>
        <p:txBody>
          <a:bodyPr wrap="square" rtlCol="0">
            <a:spAutoFit/>
          </a:bodyPr>
          <a:lstStyle/>
          <a:p>
            <a:pPr algn="ctr"/>
            <a:r>
              <a:rPr lang="en-US" sz="1100" b="1" dirty="0">
                <a:solidFill>
                  <a:srgbClr val="000000"/>
                </a:solidFill>
                <a:latin typeface="Segoe UI"/>
              </a:rPr>
              <a:t>Jul 09</a:t>
            </a:r>
          </a:p>
        </p:txBody>
      </p:sp>
      <p:sp>
        <p:nvSpPr>
          <p:cNvPr id="38" name="Rectangle 37">
            <a:extLst>
              <a:ext uri="{FF2B5EF4-FFF2-40B4-BE49-F238E27FC236}">
                <a16:creationId xmlns:a16="http://schemas.microsoft.com/office/drawing/2014/main" id="{54A50B6F-DA2E-4704-ACE8-B52180B5BB6E}"/>
              </a:ext>
            </a:extLst>
          </p:cNvPr>
          <p:cNvSpPr/>
          <p:nvPr/>
        </p:nvSpPr>
        <p:spPr>
          <a:xfrm>
            <a:off x="0" y="4752403"/>
            <a:ext cx="9587345" cy="15004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AF9D586-FCDC-4FC7-052E-7B07E5A86DD9}"/>
              </a:ext>
            </a:extLst>
          </p:cNvPr>
          <p:cNvSpPr txBox="1"/>
          <p:nvPr/>
        </p:nvSpPr>
        <p:spPr>
          <a:xfrm>
            <a:off x="733802" y="4905609"/>
            <a:ext cx="1888017" cy="307777"/>
          </a:xfrm>
          <a:prstGeom prst="rect">
            <a:avLst/>
          </a:prstGeom>
          <a:noFill/>
        </p:spPr>
        <p:txBody>
          <a:bodyPr wrap="none" rtlCol="0">
            <a:spAutoFit/>
          </a:bodyPr>
          <a:lstStyle/>
          <a:p>
            <a:r>
              <a:rPr lang="en-IN" sz="1400" b="1"/>
              <a:t>What happens next ?</a:t>
            </a:r>
          </a:p>
        </p:txBody>
      </p:sp>
      <p:sp>
        <p:nvSpPr>
          <p:cNvPr id="42" name="TextBox 41">
            <a:extLst>
              <a:ext uri="{FF2B5EF4-FFF2-40B4-BE49-F238E27FC236}">
                <a16:creationId xmlns:a16="http://schemas.microsoft.com/office/drawing/2014/main" id="{5382D5A0-42D1-AE65-5268-904A4B061A2A}"/>
              </a:ext>
            </a:extLst>
          </p:cNvPr>
          <p:cNvSpPr txBox="1"/>
          <p:nvPr/>
        </p:nvSpPr>
        <p:spPr>
          <a:xfrm>
            <a:off x="891334" y="5253460"/>
            <a:ext cx="6927272" cy="754053"/>
          </a:xfrm>
          <a:prstGeom prst="rect">
            <a:avLst/>
          </a:prstGeom>
          <a:noFill/>
        </p:spPr>
        <p:txBody>
          <a:bodyPr wrap="square">
            <a:spAutoFit/>
          </a:bodyPr>
          <a:lstStyle/>
          <a:p>
            <a:pPr marL="171450" lvl="0" indent="-171450">
              <a:spcAft>
                <a:spcPts val="600"/>
              </a:spcAft>
              <a:buFont typeface="Arial" panose="020B0604020202020204" pitchFamily="34" charset="0"/>
              <a:buChar char="•"/>
              <a:defRPr/>
            </a:pPr>
            <a:r>
              <a:rPr lang="en-US" sz="1100" b="1" dirty="0">
                <a:solidFill>
                  <a:srgbClr val="0070C0"/>
                </a:solidFill>
                <a:latin typeface="Arial"/>
              </a:rPr>
              <a:t>Top 5 ideas will be shortlisted</a:t>
            </a:r>
          </a:p>
          <a:p>
            <a:pPr marL="171450" indent="-171450">
              <a:spcAft>
                <a:spcPts val="600"/>
              </a:spcAft>
              <a:buFont typeface="Arial" panose="020B0604020202020204" pitchFamily="34" charset="0"/>
              <a:buChar char="•"/>
              <a:defRPr/>
            </a:pPr>
            <a:r>
              <a:rPr lang="en-US" sz="1100" b="1" dirty="0">
                <a:solidFill>
                  <a:srgbClr val="000000"/>
                </a:solidFill>
                <a:latin typeface="Arial"/>
              </a:rPr>
              <a:t xml:space="preserve">Judging &amp; Feedback: </a:t>
            </a:r>
            <a:r>
              <a:rPr lang="en-US" sz="1100" dirty="0">
                <a:solidFill>
                  <a:srgbClr val="000000"/>
                </a:solidFill>
                <a:latin typeface="Arial"/>
              </a:rPr>
              <a:t xml:space="preserve">Submissions will be evaluated by </a:t>
            </a:r>
            <a:r>
              <a:rPr lang="en-US" sz="1100">
                <a:solidFill>
                  <a:srgbClr val="000000"/>
                </a:solidFill>
                <a:latin typeface="Arial"/>
              </a:rPr>
              <a:t>LTM leads</a:t>
            </a:r>
            <a:endParaRPr lang="en-US" sz="1100" dirty="0">
              <a:solidFill>
                <a:srgbClr val="000000"/>
              </a:solidFill>
              <a:latin typeface="Arial"/>
            </a:endParaRPr>
          </a:p>
          <a:p>
            <a:pPr marL="171450" indent="-171450">
              <a:spcAft>
                <a:spcPts val="600"/>
              </a:spcAft>
              <a:buFont typeface="Arial" panose="020B0604020202020204" pitchFamily="34" charset="0"/>
              <a:buChar char="•"/>
              <a:defRPr/>
            </a:pPr>
            <a:r>
              <a:rPr lang="fr-FR" sz="1100" b="1" dirty="0">
                <a:solidFill>
                  <a:srgbClr val="000000"/>
                </a:solidFill>
                <a:latin typeface="Arial"/>
              </a:rPr>
              <a:t xml:space="preserve">Winner Annoncement: </a:t>
            </a:r>
            <a:r>
              <a:rPr lang="en-US" sz="1100" dirty="0">
                <a:solidFill>
                  <a:srgbClr val="000000"/>
                </a:solidFill>
                <a:latin typeface="Arial"/>
              </a:rPr>
              <a:t xml:space="preserve">All participants will be notified once winners are announced by </a:t>
            </a:r>
            <a:r>
              <a:rPr lang="en-US" sz="1100" b="1" dirty="0">
                <a:solidFill>
                  <a:srgbClr val="000000"/>
                </a:solidFill>
                <a:latin typeface="Arial"/>
              </a:rPr>
              <a:t>July 09</a:t>
            </a:r>
            <a:endParaRPr lang="en-US" sz="1100" dirty="0">
              <a:latin typeface="Segoe UI" panose="020B0502040204020203" pitchFamily="34" charset="0"/>
            </a:endParaRPr>
          </a:p>
        </p:txBody>
      </p:sp>
      <p:sp>
        <p:nvSpPr>
          <p:cNvPr id="44" name="TextBox 43">
            <a:extLst>
              <a:ext uri="{FF2B5EF4-FFF2-40B4-BE49-F238E27FC236}">
                <a16:creationId xmlns:a16="http://schemas.microsoft.com/office/drawing/2014/main" id="{9A26DEF7-A6F8-3268-7D5E-D2805C2F74D1}"/>
              </a:ext>
            </a:extLst>
          </p:cNvPr>
          <p:cNvSpPr txBox="1"/>
          <p:nvPr/>
        </p:nvSpPr>
        <p:spPr>
          <a:xfrm>
            <a:off x="951346" y="1694134"/>
            <a:ext cx="4414981" cy="1213794"/>
          </a:xfrm>
          <a:prstGeom prst="rect">
            <a:avLst/>
          </a:prstGeom>
          <a:noFill/>
        </p:spPr>
        <p:txBody>
          <a:bodyPr wrap="square">
            <a:spAutoFit/>
          </a:bodyPr>
          <a:lstStyle/>
          <a:p>
            <a:pPr fontAlgn="t"/>
            <a:r>
              <a:rPr lang="en-US" sz="1100" dirty="0">
                <a:latin typeface="Segoe UI" panose="020B0502040204020203" pitchFamily="34" charset="0"/>
              </a:rPr>
              <a:t xml:space="preserve">Download and use the </a:t>
            </a:r>
            <a:r>
              <a:rPr lang="en-US" sz="1100" b="1" dirty="0">
                <a:latin typeface="Segoe UI" panose="020B0502040204020203" pitchFamily="34" charset="0"/>
              </a:rPr>
              <a:t xml:space="preserve">standard template </a:t>
            </a:r>
            <a:r>
              <a:rPr lang="en-US" sz="1100" dirty="0">
                <a:latin typeface="Segoe UI" panose="020B0502040204020203" pitchFamily="34" charset="0"/>
              </a:rPr>
              <a:t>provided in the portal Ensure the final solution presentation (PPT) covering:</a:t>
            </a:r>
          </a:p>
          <a:p>
            <a:pPr fontAlgn="t">
              <a:lnSpc>
                <a:spcPts val="900"/>
              </a:lnSpc>
              <a:spcBef>
                <a:spcPts val="600"/>
              </a:spcBef>
              <a:buFont typeface="Arial" panose="020B0604020202020204" pitchFamily="34" charset="0"/>
              <a:buChar char="•"/>
            </a:pPr>
            <a:r>
              <a:rPr lang="en-US" sz="1100" dirty="0">
                <a:latin typeface="Segoe UI" panose="020B0502040204020203" pitchFamily="34" charset="0"/>
              </a:rPr>
              <a:t xml:space="preserve"> Problem overview &amp; approach</a:t>
            </a:r>
          </a:p>
          <a:p>
            <a:pPr fontAlgn="t">
              <a:lnSpc>
                <a:spcPts val="900"/>
              </a:lnSpc>
              <a:spcBef>
                <a:spcPts val="600"/>
              </a:spcBef>
              <a:buFont typeface="Arial" panose="020B0604020202020204" pitchFamily="34" charset="0"/>
              <a:buChar char="•"/>
            </a:pPr>
            <a:r>
              <a:rPr lang="en-US" sz="1100" dirty="0">
                <a:latin typeface="Segoe UI" panose="020B0502040204020203" pitchFamily="34" charset="0"/>
              </a:rPr>
              <a:t xml:space="preserve"> Solution demo / walkthrough</a:t>
            </a:r>
          </a:p>
          <a:p>
            <a:pPr fontAlgn="t">
              <a:lnSpc>
                <a:spcPts val="900"/>
              </a:lnSpc>
              <a:spcBef>
                <a:spcPts val="600"/>
              </a:spcBef>
              <a:buFont typeface="Arial" panose="020B0604020202020204" pitchFamily="34" charset="0"/>
              <a:buChar char="•"/>
            </a:pPr>
            <a:r>
              <a:rPr lang="en-US" sz="1100" dirty="0">
                <a:latin typeface="Segoe UI" panose="020B0502040204020203" pitchFamily="34" charset="0"/>
              </a:rPr>
              <a:t xml:space="preserve"> Architecture &amp; key components</a:t>
            </a:r>
          </a:p>
          <a:p>
            <a:pPr fontAlgn="t">
              <a:lnSpc>
                <a:spcPts val="900"/>
              </a:lnSpc>
              <a:spcBef>
                <a:spcPts val="600"/>
              </a:spcBef>
              <a:buFont typeface="Arial" panose="020B0604020202020204" pitchFamily="34" charset="0"/>
              <a:buChar char="•"/>
            </a:pPr>
            <a:r>
              <a:rPr lang="en-US" sz="1100" dirty="0">
                <a:latin typeface="Segoe UI" panose="020B0502040204020203" pitchFamily="34" charset="0"/>
              </a:rPr>
              <a:t xml:space="preserve"> Business impact &amp; outcomes</a:t>
            </a:r>
          </a:p>
        </p:txBody>
      </p:sp>
      <p:sp>
        <p:nvSpPr>
          <p:cNvPr id="46" name="TextBox 45">
            <a:extLst>
              <a:ext uri="{FF2B5EF4-FFF2-40B4-BE49-F238E27FC236}">
                <a16:creationId xmlns:a16="http://schemas.microsoft.com/office/drawing/2014/main" id="{A6539127-36ED-A268-A710-E0E32157B6E3}"/>
              </a:ext>
            </a:extLst>
          </p:cNvPr>
          <p:cNvSpPr txBox="1"/>
          <p:nvPr/>
        </p:nvSpPr>
        <p:spPr>
          <a:xfrm>
            <a:off x="5917714" y="1543429"/>
            <a:ext cx="3294981" cy="2823850"/>
          </a:xfrm>
          <a:prstGeom prst="rect">
            <a:avLst/>
          </a:prstGeom>
          <a:noFill/>
        </p:spPr>
        <p:txBody>
          <a:bodyPr wrap="square">
            <a:spAutoFit/>
          </a:bodyPr>
          <a:lstStyle/>
          <a:p>
            <a:pPr fontAlgn="t">
              <a:lnSpc>
                <a:spcPts val="1500"/>
              </a:lnSpc>
            </a:pPr>
            <a:r>
              <a:rPr lang="en-US" sz="1400" b="1" dirty="0"/>
              <a:t>Evaluation Criteria’s</a:t>
            </a:r>
          </a:p>
          <a:p>
            <a:pPr fontAlgn="t">
              <a:lnSpc>
                <a:spcPts val="1500"/>
              </a:lnSpc>
            </a:pPr>
            <a:endParaRPr lang="en-US" sz="1400" b="1" dirty="0"/>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Relevance of Solution to Challenge Statement </a:t>
            </a:r>
            <a:r>
              <a:rPr lang="en-US" sz="1100" b="1" dirty="0">
                <a:latin typeface="Segoe UI" panose="020B0502040204020203" pitchFamily="34" charset="0"/>
              </a:rPr>
              <a:t>(20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Innovation and Creativity </a:t>
            </a:r>
            <a:r>
              <a:rPr lang="en-US" sz="1100" b="1" dirty="0">
                <a:latin typeface="Segoe UI" panose="020B0502040204020203" pitchFamily="34" charset="0"/>
              </a:rPr>
              <a:t>(10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Technical Implementation </a:t>
            </a:r>
            <a:r>
              <a:rPr lang="en-US" sz="1100" b="1" dirty="0">
                <a:latin typeface="Segoe UI" panose="020B0502040204020203" pitchFamily="34" charset="0"/>
              </a:rPr>
              <a:t>(10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User Experience (UX) </a:t>
            </a:r>
            <a:r>
              <a:rPr lang="en-US" sz="1100" b="1" dirty="0">
                <a:latin typeface="Segoe UI" panose="020B0502040204020203" pitchFamily="34" charset="0"/>
              </a:rPr>
              <a:t>(15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Impact and Scalability </a:t>
            </a:r>
            <a:r>
              <a:rPr lang="en-US" sz="1100" b="1" dirty="0">
                <a:latin typeface="Segoe UI" panose="020B0502040204020203" pitchFamily="34" charset="0"/>
              </a:rPr>
              <a:t>(15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Presentation and Pitch </a:t>
            </a:r>
            <a:r>
              <a:rPr lang="en-US" sz="1100" b="1" dirty="0">
                <a:latin typeface="Segoe UI" panose="020B0502040204020203" pitchFamily="34" charset="0"/>
              </a:rPr>
              <a:t>(10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Adaptability and Flexibility </a:t>
            </a:r>
            <a:r>
              <a:rPr lang="en-US" sz="1100" b="1" dirty="0">
                <a:latin typeface="Segoe UI" panose="020B0502040204020203" pitchFamily="34" charset="0"/>
              </a:rPr>
              <a:t>(10 points)</a:t>
            </a:r>
          </a:p>
          <a:p>
            <a:pPr fontAlgn="t">
              <a:lnSpc>
                <a:spcPts val="1500"/>
              </a:lnSpc>
              <a:spcBef>
                <a:spcPts val="600"/>
              </a:spcBef>
              <a:buFont typeface="Arial" panose="020B0604020202020204" pitchFamily="34" charset="0"/>
              <a:buChar char="•"/>
            </a:pPr>
            <a:r>
              <a:rPr lang="en-US" sz="1100" dirty="0">
                <a:latin typeface="Segoe UI" panose="020B0502040204020203" pitchFamily="34" charset="0"/>
              </a:rPr>
              <a:t xml:space="preserve"> Overall Impression </a:t>
            </a:r>
            <a:r>
              <a:rPr lang="en-US" sz="1100" b="1" dirty="0">
                <a:latin typeface="Segoe UI" panose="020B0502040204020203" pitchFamily="34" charset="0"/>
              </a:rPr>
              <a:t>(10 points)</a:t>
            </a:r>
          </a:p>
        </p:txBody>
      </p:sp>
      <p:sp>
        <p:nvSpPr>
          <p:cNvPr id="48" name="TextBox 47">
            <a:extLst>
              <a:ext uri="{FF2B5EF4-FFF2-40B4-BE49-F238E27FC236}">
                <a16:creationId xmlns:a16="http://schemas.microsoft.com/office/drawing/2014/main" id="{0E26CA40-1054-FB0E-DE5F-2A2B1BB99949}"/>
              </a:ext>
            </a:extLst>
          </p:cNvPr>
          <p:cNvSpPr txBox="1"/>
          <p:nvPr/>
        </p:nvSpPr>
        <p:spPr>
          <a:xfrm>
            <a:off x="733802" y="1356876"/>
            <a:ext cx="1592615" cy="307777"/>
          </a:xfrm>
          <a:prstGeom prst="rect">
            <a:avLst/>
          </a:prstGeom>
          <a:noFill/>
        </p:spPr>
        <p:txBody>
          <a:bodyPr wrap="none" rtlCol="0">
            <a:spAutoFit/>
          </a:bodyPr>
          <a:lstStyle/>
          <a:p>
            <a:r>
              <a:rPr lang="en-IN" sz="1400" b="1" dirty="0"/>
              <a:t>What To Submit ?</a:t>
            </a:r>
          </a:p>
        </p:txBody>
      </p:sp>
      <p:pic>
        <p:nvPicPr>
          <p:cNvPr id="52" name="Picture 51" descr="Winner badge image. Learning. Advanced level. Issued by Microsoft Global Channel Partner Sales (GCPS)">
            <a:extLst>
              <a:ext uri="{FF2B5EF4-FFF2-40B4-BE49-F238E27FC236}">
                <a16:creationId xmlns:a16="http://schemas.microsoft.com/office/drawing/2014/main" id="{C98BB912-8303-5BEA-257D-BDCF746B8199}"/>
              </a:ext>
            </a:extLst>
          </p:cNvPr>
          <p:cNvPicPr>
            <a:picLocks noChangeAspect="1"/>
          </p:cNvPicPr>
          <p:nvPr/>
        </p:nvPicPr>
        <p:blipFill>
          <a:blip r:embed="rId2"/>
          <a:stretch>
            <a:fillRect/>
          </a:stretch>
        </p:blipFill>
        <p:spPr>
          <a:xfrm>
            <a:off x="10212622" y="5502605"/>
            <a:ext cx="1097280" cy="1097280"/>
          </a:xfrm>
          <a:prstGeom prst="rect">
            <a:avLst/>
          </a:prstGeom>
        </p:spPr>
      </p:pic>
      <p:pic>
        <p:nvPicPr>
          <p:cNvPr id="56" name="Picture 55" descr="Participant badge image. Learning. Advanced level. Issued by Microsoft Global Channel Partner Sales (GCPS)">
            <a:extLst>
              <a:ext uri="{FF2B5EF4-FFF2-40B4-BE49-F238E27FC236}">
                <a16:creationId xmlns:a16="http://schemas.microsoft.com/office/drawing/2014/main" id="{7D717154-6637-33C3-0F54-1F9A93B4940C}"/>
              </a:ext>
            </a:extLst>
          </p:cNvPr>
          <p:cNvPicPr>
            <a:picLocks noChangeAspect="1"/>
          </p:cNvPicPr>
          <p:nvPr/>
        </p:nvPicPr>
        <p:blipFill>
          <a:blip r:embed="rId3"/>
          <a:stretch>
            <a:fillRect/>
          </a:stretch>
        </p:blipFill>
        <p:spPr>
          <a:xfrm>
            <a:off x="10212622" y="4195484"/>
            <a:ext cx="1097280" cy="1097280"/>
          </a:xfrm>
          <a:prstGeom prst="rect">
            <a:avLst/>
          </a:prstGeom>
        </p:spPr>
      </p:pic>
      <p:sp>
        <p:nvSpPr>
          <p:cNvPr id="6" name="TextBox 5">
            <a:extLst>
              <a:ext uri="{FF2B5EF4-FFF2-40B4-BE49-F238E27FC236}">
                <a16:creationId xmlns:a16="http://schemas.microsoft.com/office/drawing/2014/main" id="{233FD825-3E11-4A68-05C1-7E948BA5B381}"/>
              </a:ext>
            </a:extLst>
          </p:cNvPr>
          <p:cNvSpPr txBox="1"/>
          <p:nvPr/>
        </p:nvSpPr>
        <p:spPr>
          <a:xfrm>
            <a:off x="976697" y="3216275"/>
            <a:ext cx="4123948" cy="261610"/>
          </a:xfrm>
          <a:prstGeom prst="rect">
            <a:avLst/>
          </a:prstGeom>
          <a:noFill/>
        </p:spPr>
        <p:txBody>
          <a:bodyPr wrap="square">
            <a:spAutoFit/>
          </a:bodyPr>
          <a:lstStyle/>
          <a:p>
            <a:pPr fontAlgn="t"/>
            <a:r>
              <a:rPr lang="en-US" sz="1100" b="1" dirty="0">
                <a:latin typeface="Segoe UI" panose="020B0502040204020203" pitchFamily="34" charset="0"/>
              </a:rPr>
              <a:t xml:space="preserve">Video Duration: </a:t>
            </a:r>
            <a:r>
              <a:rPr lang="en-US" sz="1100" b="1" dirty="0">
                <a:solidFill>
                  <a:srgbClr val="0070C0"/>
                </a:solidFill>
                <a:latin typeface="Segoe UI" panose="020B0502040204020203" pitchFamily="34" charset="0"/>
              </a:rPr>
              <a:t>Maximum 10 Minutes</a:t>
            </a:r>
            <a:endParaRPr lang="en-US" sz="1100" dirty="0">
              <a:solidFill>
                <a:srgbClr val="0070C0"/>
              </a:solidFill>
              <a:latin typeface="Segoe UI" panose="020B0502040204020203" pitchFamily="34" charset="0"/>
            </a:endParaRPr>
          </a:p>
        </p:txBody>
      </p:sp>
      <p:sp>
        <p:nvSpPr>
          <p:cNvPr id="10" name="Shape 89">
            <a:extLst>
              <a:ext uri="{FF2B5EF4-FFF2-40B4-BE49-F238E27FC236}">
                <a16:creationId xmlns:a16="http://schemas.microsoft.com/office/drawing/2014/main" id="{59C7108B-1B0E-A3BC-27AE-EBE0D4966734}"/>
              </a:ext>
            </a:extLst>
          </p:cNvPr>
          <p:cNvSpPr/>
          <p:nvPr/>
        </p:nvSpPr>
        <p:spPr>
          <a:xfrm>
            <a:off x="818181" y="3139354"/>
            <a:ext cx="54298" cy="1371600"/>
          </a:xfrm>
          <a:prstGeom prst="rect">
            <a:avLst/>
          </a:prstGeom>
          <a:solidFill>
            <a:srgbClr val="FD5E49"/>
          </a:solidFill>
          <a:ln w="12700">
            <a:solidFill>
              <a:srgbClr val="A4268A"/>
            </a:solidFill>
            <a:prstDash val="solid"/>
          </a:ln>
        </p:spPr>
        <p:txBody>
          <a:bodyPr/>
          <a:lstStyle/>
          <a:p>
            <a:endParaRPr lang="en-US"/>
          </a:p>
        </p:txBody>
      </p:sp>
      <p:sp>
        <p:nvSpPr>
          <p:cNvPr id="15" name="TextBox 14">
            <a:extLst>
              <a:ext uri="{FF2B5EF4-FFF2-40B4-BE49-F238E27FC236}">
                <a16:creationId xmlns:a16="http://schemas.microsoft.com/office/drawing/2014/main" id="{68A96CC0-C7D4-1FEC-7316-118742A0481E}"/>
              </a:ext>
            </a:extLst>
          </p:cNvPr>
          <p:cNvSpPr txBox="1"/>
          <p:nvPr/>
        </p:nvSpPr>
        <p:spPr>
          <a:xfrm>
            <a:off x="976697" y="3555359"/>
            <a:ext cx="4045586" cy="938719"/>
          </a:xfrm>
          <a:prstGeom prst="rect">
            <a:avLst/>
          </a:prstGeom>
          <a:noFill/>
        </p:spPr>
        <p:txBody>
          <a:bodyPr wrap="square">
            <a:spAutoFit/>
          </a:bodyPr>
          <a:lstStyle/>
          <a:p>
            <a:pPr fontAlgn="t"/>
            <a:r>
              <a:rPr lang="en-US" sz="1100" i="1" dirty="0"/>
              <a:t>Create a compelling demo video that effectively showcases and positions your idea or proof of concept (POC) to the client—focusing on clear value articulation, persuasive storytelling, and influencing customer decision-making through strong marketing and recommendation messaging.</a:t>
            </a:r>
          </a:p>
        </p:txBody>
      </p:sp>
      <p:sp>
        <p:nvSpPr>
          <p:cNvPr id="3" name="Rectangle: Rounded Corners 4" descr="Circular diagram titled “Frontier Transformation” with five interconnected components:  Business Strategy – The alignment of AI investments with strategic business outcomes and measurable impact. Organization &amp; Culture – The vision, operating model, skills, resources, and culture to drive AI adoption. AI Strategy &amp; Experience – The organization’s AI expertise and repeatable processes to create sustainable value. AI Governance &amp; Security – The controls and processes to ensure secure, compliant, and responsible AI. Technology &amp; Data Strategy – The data and infrastructure needed to run AI solutions at scale securely and reliably.">
            <a:extLst>
              <a:ext uri="{FF2B5EF4-FFF2-40B4-BE49-F238E27FC236}">
                <a16:creationId xmlns:a16="http://schemas.microsoft.com/office/drawing/2014/main" id="{73CF2248-BAF7-D882-50FC-F4C0B538FED1}"/>
              </a:ext>
              <a:ext uri="{C183D7F6-B498-43B3-948B-1728B52AA6E4}">
                <adec:decorative xmlns:adec="http://schemas.microsoft.com/office/drawing/2017/decorative" val="0"/>
              </a:ext>
            </a:extLst>
          </p:cNvPr>
          <p:cNvSpPr>
            <a:spLocks/>
          </p:cNvSpPr>
          <p:nvPr/>
        </p:nvSpPr>
        <p:spPr bwMode="auto">
          <a:xfrm>
            <a:off x="9985928" y="679106"/>
            <a:ext cx="1550669" cy="367761"/>
          </a:xfrm>
          <a:prstGeom prst="roundRect">
            <a:avLst>
              <a:gd name="adj" fmla="val 3490"/>
            </a:avLst>
          </a:prstGeom>
          <a:solidFill>
            <a:schemeClr val="bg1">
              <a:lumMod val="95000"/>
            </a:schemeClr>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30000" noProof="0">
              <a:ln>
                <a:noFill/>
              </a:ln>
              <a:solidFill>
                <a:srgbClr val="FFFFFF"/>
              </a:solidFill>
              <a:effectLst/>
              <a:uLnTx/>
              <a:uFillTx/>
              <a:latin typeface="Segoe UI"/>
              <a:ea typeface="+mn-ea"/>
              <a:cs typeface="Segoe UI" pitchFamily="34" charset="0"/>
            </a:endParaRPr>
          </a:p>
        </p:txBody>
      </p:sp>
      <p:sp>
        <p:nvSpPr>
          <p:cNvPr id="7" name="Rectangle: Rounded Corners 6">
            <a:extLst>
              <a:ext uri="{FF2B5EF4-FFF2-40B4-BE49-F238E27FC236}">
                <a16:creationId xmlns:a16="http://schemas.microsoft.com/office/drawing/2014/main" id="{774ECB2D-8851-7FCC-3717-ACD9F2C95CF2}"/>
              </a:ext>
            </a:extLst>
          </p:cNvPr>
          <p:cNvSpPr/>
          <p:nvPr/>
        </p:nvSpPr>
        <p:spPr>
          <a:xfrm>
            <a:off x="9975088" y="339766"/>
            <a:ext cx="1580364" cy="367761"/>
          </a:xfrm>
          <a:prstGeom prst="roundRect">
            <a:avLst/>
          </a:prstGeom>
          <a:solidFill>
            <a:srgbClr val="FD5E49"/>
          </a:solidFill>
          <a:ln w="6350">
            <a:noFill/>
          </a:ln>
          <a:effectLst>
            <a:outerShdw blurRad="127000" dist="38100" dir="2700000" algn="tl" rotWithShape="0">
              <a:prstClr val="black">
                <a:alpha val="12000"/>
              </a:prstClr>
            </a:outerShdw>
          </a:effectLst>
        </p:spPr>
        <p:txBody>
          <a:bodyPr wrap="square" lIns="45720" tIns="0" rIns="45720" bIns="91440" rtlCol="0" anchor="b" anchorCtr="0">
            <a:noAutofit/>
          </a:bodyPr>
          <a:lstStyle/>
          <a:p>
            <a:pPr algn="ctr" defTabSz="914225"/>
            <a:r>
              <a:rPr lang="en-US" sz="1050" b="1" dirty="0">
                <a:solidFill>
                  <a:schemeClr val="bg1"/>
                </a:solidFill>
                <a:latin typeface="Segoe UI"/>
              </a:rPr>
              <a:t>Submission Window</a:t>
            </a:r>
          </a:p>
        </p:txBody>
      </p:sp>
      <p:sp>
        <p:nvSpPr>
          <p:cNvPr id="9" name="TextBox 8">
            <a:extLst>
              <a:ext uri="{FF2B5EF4-FFF2-40B4-BE49-F238E27FC236}">
                <a16:creationId xmlns:a16="http://schemas.microsoft.com/office/drawing/2014/main" id="{DF3F9392-D654-4FD3-543C-F1889E602EF6}"/>
              </a:ext>
            </a:extLst>
          </p:cNvPr>
          <p:cNvSpPr txBox="1"/>
          <p:nvPr/>
        </p:nvSpPr>
        <p:spPr>
          <a:xfrm>
            <a:off x="10118035" y="741511"/>
            <a:ext cx="1294470" cy="261610"/>
          </a:xfrm>
          <a:prstGeom prst="rect">
            <a:avLst/>
          </a:prstGeom>
          <a:noFill/>
        </p:spPr>
        <p:txBody>
          <a:bodyPr wrap="square" rtlCol="0">
            <a:spAutoFit/>
          </a:bodyPr>
          <a:lstStyle/>
          <a:p>
            <a:pPr algn="ctr"/>
            <a:r>
              <a:rPr lang="en-US" sz="1100" b="1" dirty="0">
                <a:solidFill>
                  <a:srgbClr val="0070C0"/>
                </a:solidFill>
                <a:highlight>
                  <a:srgbClr val="FFFF00"/>
                </a:highlight>
                <a:latin typeface="Segoe UI"/>
              </a:rPr>
              <a:t>Jun 15</a:t>
            </a:r>
          </a:p>
        </p:txBody>
      </p:sp>
      <p:sp>
        <p:nvSpPr>
          <p:cNvPr id="13" name="TextBox 12">
            <a:extLst>
              <a:ext uri="{FF2B5EF4-FFF2-40B4-BE49-F238E27FC236}">
                <a16:creationId xmlns:a16="http://schemas.microsoft.com/office/drawing/2014/main" id="{46FBECE9-AEB9-092B-4747-DC4C1F0F0446}"/>
              </a:ext>
            </a:extLst>
          </p:cNvPr>
          <p:cNvSpPr txBox="1"/>
          <p:nvPr/>
        </p:nvSpPr>
        <p:spPr>
          <a:xfrm>
            <a:off x="548693" y="845191"/>
            <a:ext cx="3650776" cy="307777"/>
          </a:xfrm>
          <a:prstGeom prst="rect">
            <a:avLst/>
          </a:prstGeom>
          <a:noFill/>
        </p:spPr>
        <p:txBody>
          <a:bodyPr wrap="square">
            <a:spAutoFit/>
          </a:bodyPr>
          <a:lstStyle/>
          <a:p>
            <a:r>
              <a:rPr lang="en-US" sz="1400" i="1" dirty="0">
                <a:solidFill>
                  <a:srgbClr val="0070C0"/>
                </a:solidFill>
              </a:rPr>
              <a:t>Backup your Code repository or relevant files</a:t>
            </a:r>
          </a:p>
        </p:txBody>
      </p:sp>
    </p:spTree>
    <p:extLst>
      <p:ext uri="{BB962C8B-B14F-4D97-AF65-F5344CB8AC3E}">
        <p14:creationId xmlns:p14="http://schemas.microsoft.com/office/powerpoint/2010/main" val="3360457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2B88-AEA9-64D5-6143-7873FA0391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1B427C-3F23-B38F-8061-42E3F57B0ED4}"/>
              </a:ext>
            </a:extLst>
          </p:cNvPr>
          <p:cNvSpPr txBox="1"/>
          <p:nvPr/>
        </p:nvSpPr>
        <p:spPr>
          <a:xfrm>
            <a:off x="530603" y="465753"/>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rgbClr val="1A1A1A"/>
                </a:solidFill>
                <a:latin typeface="Aptos Display" panose="02110004020202020204"/>
              </a:rPr>
              <a:t>Technical Architecture</a:t>
            </a:r>
            <a:endParaRPr kumimoji="0" lang="en-US" sz="2800" b="1"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sp>
        <p:nvSpPr>
          <p:cNvPr id="5" name="Rectangle 4">
            <a:extLst>
              <a:ext uri="{FF2B5EF4-FFF2-40B4-BE49-F238E27FC236}">
                <a16:creationId xmlns:a16="http://schemas.microsoft.com/office/drawing/2014/main" id="{5D55011D-93D4-DCC7-7FBB-0250B319CC20}"/>
              </a:ext>
            </a:extLst>
          </p:cNvPr>
          <p:cNvSpPr/>
          <p:nvPr/>
        </p:nvSpPr>
        <p:spPr>
          <a:xfrm>
            <a:off x="9219415" y="0"/>
            <a:ext cx="2972585" cy="6858000"/>
          </a:xfrm>
          <a:prstGeom prst="rect">
            <a:avLst/>
          </a:prstGeom>
          <a:solidFill>
            <a:srgbClr val="F7DF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7DA6181-B442-2F1B-58B1-FBEBFE72F850}"/>
              </a:ext>
            </a:extLst>
          </p:cNvPr>
          <p:cNvSpPr txBox="1"/>
          <p:nvPr/>
        </p:nvSpPr>
        <p:spPr>
          <a:xfrm>
            <a:off x="9514217" y="1277298"/>
            <a:ext cx="2382980" cy="1823576"/>
          </a:xfrm>
          <a:prstGeom prst="rect">
            <a:avLst/>
          </a:prstGeom>
          <a:noFill/>
        </p:spPr>
        <p:txBody>
          <a:bodyPr wrap="square">
            <a:spAutoFit/>
          </a:bodyPr>
          <a:lstStyle/>
          <a:p>
            <a:pPr fontAlgn="t">
              <a:lnSpc>
                <a:spcPts val="1500"/>
              </a:lnSpc>
              <a:buNone/>
            </a:pPr>
            <a:r>
              <a:rPr lang="en-US" sz="1200" b="1" i="1" dirty="0">
                <a:solidFill>
                  <a:schemeClr val="dk1"/>
                </a:solidFill>
              </a:rPr>
              <a:t xml:space="preserve">High-level visual </a:t>
            </a:r>
            <a:r>
              <a:rPr lang="en-US" sz="1200" i="1" dirty="0">
                <a:solidFill>
                  <a:schemeClr val="dk1"/>
                </a:solidFill>
              </a:rPr>
              <a:t>representation of the solution, showing:</a:t>
            </a:r>
          </a:p>
          <a:p>
            <a:pPr fontAlgn="t">
              <a:lnSpc>
                <a:spcPts val="1500"/>
              </a:lnSpc>
              <a:buNone/>
            </a:pPr>
            <a:endParaRPr lang="en-US" sz="1200" i="1" dirty="0">
              <a:solidFill>
                <a:schemeClr val="dk1"/>
              </a:solidFill>
            </a:endParaRPr>
          </a:p>
          <a:p>
            <a:pPr fontAlgn="t">
              <a:lnSpc>
                <a:spcPts val="1500"/>
              </a:lnSpc>
              <a:buFont typeface="Arial" panose="020B0604020202020204" pitchFamily="34" charset="0"/>
              <a:buChar char="•"/>
            </a:pPr>
            <a:r>
              <a:rPr lang="en-US" sz="1200" i="1" dirty="0">
                <a:solidFill>
                  <a:schemeClr val="dk1"/>
                </a:solidFill>
              </a:rPr>
              <a:t>User interaction flow/wireframe</a:t>
            </a:r>
          </a:p>
          <a:p>
            <a:pPr fontAlgn="t">
              <a:lnSpc>
                <a:spcPts val="1500"/>
              </a:lnSpc>
              <a:buFont typeface="Arial" panose="020B0604020202020204" pitchFamily="34" charset="0"/>
              <a:buChar char="•"/>
            </a:pPr>
            <a:r>
              <a:rPr lang="en-US" sz="1200" i="1" dirty="0">
                <a:solidFill>
                  <a:schemeClr val="dk1"/>
                </a:solidFill>
              </a:rPr>
              <a:t>Core system components</a:t>
            </a:r>
          </a:p>
          <a:p>
            <a:pPr fontAlgn="t">
              <a:lnSpc>
                <a:spcPts val="1500"/>
              </a:lnSpc>
              <a:buFont typeface="Arial" panose="020B0604020202020204" pitchFamily="34" charset="0"/>
              <a:buChar char="•"/>
            </a:pPr>
            <a:r>
              <a:rPr lang="en-US" sz="1200" i="1" dirty="0">
                <a:solidFill>
                  <a:schemeClr val="dk1"/>
                </a:solidFill>
              </a:rPr>
              <a:t>Data flow between services</a:t>
            </a:r>
          </a:p>
          <a:p>
            <a:pPr fontAlgn="t">
              <a:lnSpc>
                <a:spcPts val="1500"/>
              </a:lnSpc>
              <a:buFont typeface="Arial" panose="020B0604020202020204" pitchFamily="34" charset="0"/>
              <a:buChar char="•"/>
            </a:pPr>
            <a:r>
              <a:rPr lang="en-US" sz="1200" i="1" dirty="0">
                <a:solidFill>
                  <a:schemeClr val="dk1"/>
                </a:solidFill>
              </a:rPr>
              <a:t>Integration points</a:t>
            </a:r>
          </a:p>
          <a:p>
            <a:pPr fontAlgn="t">
              <a:lnSpc>
                <a:spcPts val="1500"/>
              </a:lnSpc>
              <a:buFont typeface="Arial" panose="020B0604020202020204" pitchFamily="34" charset="0"/>
              <a:buChar char="•"/>
            </a:pPr>
            <a:r>
              <a:rPr lang="en-US" sz="1200" i="1" dirty="0">
                <a:solidFill>
                  <a:schemeClr val="dk1"/>
                </a:solidFill>
              </a:rPr>
              <a:t>Security / compliance considerations</a:t>
            </a:r>
          </a:p>
        </p:txBody>
      </p:sp>
      <p:graphicFrame>
        <p:nvGraphicFramePr>
          <p:cNvPr id="27" name="Table 26">
            <a:extLst>
              <a:ext uri="{FF2B5EF4-FFF2-40B4-BE49-F238E27FC236}">
                <a16:creationId xmlns:a16="http://schemas.microsoft.com/office/drawing/2014/main" id="{11685646-9E41-AC25-581B-AF9F3E229601}"/>
              </a:ext>
            </a:extLst>
          </p:cNvPr>
          <p:cNvGraphicFramePr>
            <a:graphicFrameLocks noGrp="1"/>
          </p:cNvGraphicFramePr>
          <p:nvPr>
            <p:extLst>
              <p:ext uri="{D42A27DB-BD31-4B8C-83A1-F6EECF244321}">
                <p14:modId xmlns:p14="http://schemas.microsoft.com/office/powerpoint/2010/main" val="1404588204"/>
              </p:ext>
            </p:extLst>
          </p:nvPr>
        </p:nvGraphicFramePr>
        <p:xfrm>
          <a:off x="622525" y="1464510"/>
          <a:ext cx="7872546" cy="4415179"/>
        </p:xfrm>
        <a:graphic>
          <a:graphicData uri="http://schemas.openxmlformats.org/drawingml/2006/table">
            <a:tbl>
              <a:tblPr/>
              <a:tblGrid>
                <a:gridCol w="1991699">
                  <a:extLst>
                    <a:ext uri="{9D8B030D-6E8A-4147-A177-3AD203B41FA5}">
                      <a16:colId xmlns:a16="http://schemas.microsoft.com/office/drawing/2014/main" val="3837900683"/>
                    </a:ext>
                  </a:extLst>
                </a:gridCol>
                <a:gridCol w="5880847">
                  <a:extLst>
                    <a:ext uri="{9D8B030D-6E8A-4147-A177-3AD203B41FA5}">
                      <a16:colId xmlns:a16="http://schemas.microsoft.com/office/drawing/2014/main" val="2834952688"/>
                    </a:ext>
                  </a:extLst>
                </a:gridCol>
              </a:tblGrid>
              <a:tr h="207675">
                <a:tc>
                  <a:txBody>
                    <a:bodyPr/>
                    <a:lstStyle/>
                    <a:p>
                      <a:pPr algn="ctr" fontAlgn="ctr">
                        <a:buNone/>
                      </a:pPr>
                      <a:endParaRPr lang="en-US" sz="1000" b="1" i="0" u="none" strike="noStrike" dirty="0">
                        <a:solidFill>
                          <a:srgbClr val="FFFFFF"/>
                        </a:solidFill>
                        <a:effectLst/>
                        <a:latin typeface="+mn-lt"/>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US" sz="1000" b="1" i="0" u="none" strike="noStrike" dirty="0">
                          <a:solidFill>
                            <a:srgbClr val="FFFFFF"/>
                          </a:solidFill>
                          <a:effectLst/>
                          <a:latin typeface="+mn-lt"/>
                          <a:cs typeface="Segoe UI" panose="020B0502040204020203" pitchFamily="34" charset="0"/>
                        </a:rPr>
                        <a:t>Description</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85367349"/>
                  </a:ext>
                </a:extLst>
              </a:tr>
              <a:tr h="1331826">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Architecture Overview</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indent="0" algn="l" defTabSz="914400" rtl="0" eaLnBrk="1" fontAlgn="t" latinLnBrk="0" hangingPunct="1">
                        <a:buNone/>
                      </a:pPr>
                      <a:r>
                        <a:rPr lang="en-US" sz="1000" b="0" i="1" u="none" strike="noStrike" kern="1200">
                          <a:solidFill>
                            <a:srgbClr val="666666"/>
                          </a:solidFill>
                          <a:effectLst/>
                          <a:latin typeface="+mn-lt"/>
                          <a:ea typeface="+mn-ea"/>
                          <a:cs typeface="Segoe UI" panose="020B0502040204020203" pitchFamily="34" charset="0"/>
                        </a:rPr>
                        <a:t>Channels/Postman POST -&gt; Azure Function App (FastAPI+Python) validates with Pydantic -&gt; Fabric Eventstream (partition by account_id) -&gt; fans to Eventhouse (2-3 sec, KQL rules fire) + Lakehouse (30-60 sec, Delta tables) -&gt; Notebooks 02-05 (PySpark ML pipeline: IsolationForest + GradientBoosting + NetworkX graph) -&gt; suspicious_flags table -&gt; Dashboard (8 tiles, 30s refresh) + Data Agent (plain English Q&amp;A) + Operations Agent (24x7 auto-escalation) + Ontology graph (money-flow network)</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839416"/>
                  </a:ext>
                </a:extLst>
              </a:tr>
              <a:tr h="212026">
                <a:tc>
                  <a:txBody>
                    <a:bodyPr/>
                    <a:lstStyle/>
                    <a:p>
                      <a:pPr marL="50800" indent="0" algn="l" defTabSz="914400" rtl="0" eaLnBrk="1" fontAlgn="t" latinLnBrk="0" hangingPunct="1">
                        <a:buNone/>
                      </a:pPr>
                      <a:endParaRPr lang="en-US" sz="1000" b="1" i="0" u="none" strike="noStrike" kern="1200" dirty="0">
                        <a:solidFill>
                          <a:schemeClr val="tx1"/>
                        </a:solidFill>
                        <a:effectLst/>
                        <a:latin typeface="+mn-lt"/>
                        <a:ea typeface="+mn-ea"/>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115888" indent="0" algn="l" defTabSz="914400" rtl="0" eaLnBrk="1" fontAlgn="t" latinLnBrk="0" hangingPunct="1">
                        <a:buNone/>
                      </a:pP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939643484"/>
                  </a:ext>
                </a:extLst>
              </a:tr>
              <a:tr h="1331826">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Core Components</a:t>
                      </a:r>
                    </a:p>
                    <a:p>
                      <a:pPr marL="50800" indent="0" algn="l" defTabSz="914400" rtl="0" eaLnBrk="1" fontAlgn="t" latinLnBrk="0" hangingPunct="1">
                        <a:buNone/>
                      </a:pPr>
                      <a:endParaRPr lang="en-US" sz="1000" b="1" i="0" u="none" strike="noStrike" kern="1200" dirty="0">
                        <a:solidFill>
                          <a:schemeClr val="tx1"/>
                        </a:solidFill>
                        <a:effectLst/>
                        <a:latin typeface="+mn-lt"/>
                        <a:ea typeface="+mn-ea"/>
                        <a:cs typeface="Segoe UI" panose="020B0502040204020203" pitchFamily="34" charset="0"/>
                      </a:endParaRPr>
                    </a:p>
                    <a:p>
                      <a:pPr marL="50800" marR="0" lvl="0" indent="0" algn="l" defTabSz="914400" rtl="0" eaLnBrk="1" fontAlgn="t" latinLnBrk="0" hangingPunct="1">
                        <a:lnSpc>
                          <a:spcPct val="100000"/>
                        </a:lnSpc>
                        <a:spcBef>
                          <a:spcPts val="0"/>
                        </a:spcBef>
                        <a:spcAft>
                          <a:spcPts val="0"/>
                        </a:spcAft>
                        <a:buClrTx/>
                        <a:buSzTx/>
                        <a:buFontTx/>
                        <a:buNone/>
                        <a:tabLst/>
                        <a:defRPr/>
                      </a:pPr>
                      <a:r>
                        <a:rPr lang="en-US" sz="1000" b="1" i="0" u="none" strike="noStrike" kern="1200" dirty="0">
                          <a:solidFill>
                            <a:schemeClr val="tx1"/>
                          </a:solidFill>
                          <a:effectLst/>
                          <a:latin typeface="+mn-lt"/>
                          <a:ea typeface="+mn-ea"/>
                          <a:cs typeface="Segoe UI" panose="020B0502040204020203" pitchFamily="34" charset="0"/>
                        </a:rPr>
                        <a:t>(Microsoft Technology / Services Touched)</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dirty="0">
                          <a:solidFill>
                            <a:srgbClr val="666666"/>
                          </a:solidFill>
                          <a:effectLst/>
                          <a:latin typeface="+mn-lt"/>
                          <a:ea typeface="+mn-ea"/>
                          <a:cs typeface="Segoe UI" panose="020B0502040204020203" pitchFamily="34" charset="0"/>
                        </a:rPr>
                        <a:t>API: Azure Function App (FastAPI) — transaction ingestion gateway | Stream: Fabric Eventstream — real-time fan-out to dual stores | Real-time DB: Eventhouse (KQL) — 12 detection rules fire in seconds | Batch DB: Lakehouse (Delta) — medallion architecture Bronze/Silver/Gold | ML: scikit-learn IsolationForest + GBM — anomaly detection + supervised scoring | Graph: NetworkX — circular flow detection up to 15 hops | AI Agent: Fabric Data Agent — plain English investigation + SAR generation | Ops Agent: Fabric Operations Agent — 24x7 monitoring + auto-escalation | Dashboard: KQL Real-Time Dashboard (8 tiles) + Power BI (investigation view) | Ontology: Fabric Ontology — money-flow network graph visualization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6692221"/>
                  </a:ext>
                </a:extLst>
              </a:tr>
              <a:tr h="1331826">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Security &amp; Compliance</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dirty="0">
                          <a:solidFill>
                            <a:srgbClr val="666666"/>
                          </a:solidFill>
                          <a:effectLst/>
                          <a:latin typeface="+mn-lt"/>
                          <a:ea typeface="+mn-ea"/>
                          <a:cs typeface="Segoe UI" panose="020B0502040204020203" pitchFamily="34" charset="0"/>
                        </a:rPr>
                        <a:t>Auth: Azure Function key + Entra ID for Fabric workspace | Encryption: TLS in transit, Delta encryption at rest | Compliance: BSA/AML, FATF Recommendations, FIU-IND guidelines | PII Protection: customer names hashed (name_hash), never shown in agent responses | Audit: every flag has rule_id + condition_summary + rationale (full audit trail) | Quarantine: bad data preserved in quarantine_transactions, not silently dropped | RBAC: workspace roles (Admin/Member/Viewer) control access to tables and agents</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8451292"/>
                  </a:ext>
                </a:extLst>
              </a:tr>
            </a:tbl>
          </a:graphicData>
        </a:graphic>
      </p:graphicFrame>
    </p:spTree>
    <p:extLst>
      <p:ext uri="{BB962C8B-B14F-4D97-AF65-F5344CB8AC3E}">
        <p14:creationId xmlns:p14="http://schemas.microsoft.com/office/powerpoint/2010/main" val="149718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F797C-AB8B-7893-6DC8-8A4576DA81B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324A474-D0AD-35CD-5DAE-C68B17455C11}"/>
              </a:ext>
            </a:extLst>
          </p:cNvPr>
          <p:cNvGraphicFramePr>
            <a:graphicFrameLocks noGrp="1"/>
          </p:cNvGraphicFramePr>
          <p:nvPr>
            <p:extLst>
              <p:ext uri="{D42A27DB-BD31-4B8C-83A1-F6EECF244321}">
                <p14:modId xmlns:p14="http://schemas.microsoft.com/office/powerpoint/2010/main" val="1039319761"/>
              </p:ext>
            </p:extLst>
          </p:nvPr>
        </p:nvGraphicFramePr>
        <p:xfrm>
          <a:off x="618837" y="1193009"/>
          <a:ext cx="10889672" cy="4794835"/>
        </p:xfrm>
        <a:graphic>
          <a:graphicData uri="http://schemas.openxmlformats.org/drawingml/2006/table">
            <a:tbl>
              <a:tblPr/>
              <a:tblGrid>
                <a:gridCol w="2645036">
                  <a:extLst>
                    <a:ext uri="{9D8B030D-6E8A-4147-A177-3AD203B41FA5}">
                      <a16:colId xmlns:a16="http://schemas.microsoft.com/office/drawing/2014/main" val="3837900683"/>
                    </a:ext>
                  </a:extLst>
                </a:gridCol>
                <a:gridCol w="8244636">
                  <a:extLst>
                    <a:ext uri="{9D8B030D-6E8A-4147-A177-3AD203B41FA5}">
                      <a16:colId xmlns:a16="http://schemas.microsoft.com/office/drawing/2014/main" val="2834952688"/>
                    </a:ext>
                  </a:extLst>
                </a:gridCol>
              </a:tblGrid>
              <a:tr h="368682">
                <a:tc>
                  <a:txBody>
                    <a:bodyPr/>
                    <a:lstStyle/>
                    <a:p>
                      <a:pPr algn="ctr" fontAlgn="ctr">
                        <a:buNone/>
                      </a:pPr>
                      <a:endParaRPr lang="en-US" sz="1000" b="1" i="0" u="none" strike="noStrike" dirty="0">
                        <a:solidFill>
                          <a:srgbClr val="FFFFFF"/>
                        </a:solidFill>
                        <a:effectLst/>
                        <a:latin typeface="+mn-lt"/>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US" sz="1000" b="1" i="0" u="none" strike="noStrike" dirty="0">
                          <a:solidFill>
                            <a:srgbClr val="FFFFFF"/>
                          </a:solidFill>
                          <a:effectLst/>
                          <a:latin typeface="+mn-lt"/>
                          <a:cs typeface="Segoe UI" panose="020B0502040204020203" pitchFamily="34" charset="0"/>
                        </a:rPr>
                        <a:t>Description</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85367349"/>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Relevance to Challenge (20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dirty="0">
                          <a:solidFill>
                            <a:srgbClr val="666666"/>
                          </a:solidFill>
                          <a:effectLst/>
                          <a:latin typeface="+mn-lt"/>
                          <a:ea typeface="+mn-ea"/>
                          <a:cs typeface="Segoe UI" panose="020B0502040204020203" pitchFamily="34" charset="0"/>
                        </a:rPr>
                        <a:t>Direct alignment: The challenge requires real-time fraud detection. We deliver 2-3 second detection via KQL rules + 5-minute ML scoring. 12 detection rules cover structuring, layering, mule accounts, dormant spikes, PEP/watchlist hits, smurfing, high velocity, cash-night deposits, unknown anomalies, circular flow, and multi-hop chains. 3,136 transactions scored, 379 flags generated with 12% false positive rate vs industry 90-95%.</a:t>
                      </a: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1849156"/>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Innovation &amp; Creativity (10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a:solidFill>
                            <a:srgbClr val="666666"/>
                          </a:solidFill>
                          <a:effectLst/>
                          <a:latin typeface="+mn-lt"/>
                          <a:ea typeface="+mn-ea"/>
                          <a:cs typeface="Segoe UI" panose="020B0502040204020203" pitchFamily="34" charset="0"/>
                        </a:rPr>
                        <a:t>4 innovations: (1) Circular flow detection — finds money that returns via intermediaries over months, a capability most banks lack. (2) Multi-hop chain detection using NetworkX graph algorithms — traces laundering through up to 15 intermediary accounts. (3) AI Data Agent generates regulator-ready SAR narratives in 30 seconds (vs 2-4 hours manually). (4) Blended ML score (40% anomaly + 60% supervised) catches UNKNOWN fraud patterns no human has written a rule for.</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5810681"/>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Technical Implementation (10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15888" indent="0" algn="l" defTabSz="914400" rtl="0" eaLnBrk="1" fontAlgn="t" latinLnBrk="0" hangingPunct="1">
                        <a:buFont typeface="Arial" panose="020B0604020202020204" pitchFamily="34" charset="0"/>
                        <a:buNone/>
                      </a:pPr>
                      <a:r>
                        <a:rPr lang="en-US" sz="1000" b="0" i="1" u="none" strike="noStrike" kern="1200">
                          <a:solidFill>
                            <a:srgbClr val="666666"/>
                          </a:solidFill>
                          <a:effectLst/>
                          <a:latin typeface="+mn-lt"/>
                          <a:ea typeface="+mn-ea"/>
                          <a:cs typeface="Segoe UI" panose="020B0502040204020203" pitchFamily="34" charset="0"/>
                        </a:rPr>
                        <a:t>Fully functional end-to-end: Azure Function App (FastAPI+Python) -&gt; Fabric Eventstream -&gt; Eventhouse (KQL, 12 rules) + Lakehouse (Delta, 9 tables) -&gt; PySpark notebooks (5) with scikit-learn + NetworkX -&gt; Data Agent + Operations Agent + Ontology graph + KQL Dashboard (8 tiles) + Power BI. Postman collection with 28 test scenarios proves every rule fires. Live demo: send transaction from Postman, watch detection in 2-3 seconds.</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9584888"/>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User Experience (15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a:solidFill>
                            <a:srgbClr val="666666"/>
                          </a:solidFill>
                          <a:effectLst/>
                          <a:latin typeface="+mn-lt"/>
                          <a:ea typeface="+mn-ea"/>
                          <a:cs typeface="Segoe UI" panose="020B0502040204020203" pitchFamily="34" charset="0"/>
                        </a:rPr>
                        <a:t>3 user touchpoints: (1) KQL Dashboard — 8 auto-refreshing tiles, analyst sees all detection patterns at a glance, no clicks needed. (2) Data Agent — type plain English: 'Investigate ACC-2201' and get full history, ML scores, watchlist matches, recommended action. No SQL skills required. (3) Power BI — sortable alert queue (highest ML score first), KPI cards, typology breakdown, country hotspots. Analyst workflow: see alert -&gt; ask agent to investigate -&gt; decide (CONFIRM/DISMISS) -&gt; system learns.</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3473607"/>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Impact &amp; Scalability (15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a:solidFill>
                            <a:srgbClr val="666666"/>
                          </a:solidFill>
                          <a:effectLst/>
                          <a:latin typeface="+mn-lt"/>
                          <a:ea typeface="+mn-ea"/>
                          <a:cs typeface="Segoe UI" panose="020B0502040204020203" pitchFamily="34" charset="0"/>
                        </a:rPr>
                        <a:t>Impact: Detection time from 12-24 hours to 2-3 seconds (99.99% reduction). False positive rate from 90-95% to 12% (80% reduction in analyst wasted time). Investigation time from 2-4 hours to 30 seconds (99.6% reduction). SAR writing from 2-4 hours to 30 seconds. Scalability: Fabric Eventstream handles millions of events/hour. Single platform replaces 4+ vendor tools (rule engine + ML platform + graph DB + case management). Applicable to any financial institution globally.</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035165"/>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Presentation &amp; Pitch (10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dirty="0">
                          <a:solidFill>
                            <a:srgbClr val="666666"/>
                          </a:solidFill>
                          <a:effectLst/>
                          <a:latin typeface="+mn-lt"/>
                          <a:ea typeface="+mn-ea"/>
                          <a:cs typeface="Segoe UI" panose="020B0502040204020203" pitchFamily="34" charset="0"/>
                        </a:rPr>
                        <a:t>Pitch flow: (1) Banks lose billions — current systems are blind to new fraud. (2) We detect in 2 seconds, catch unknown patterns, trace money through any intermediaries. (3) LIVE DEMO: send transaction from Postman, watch detection on dashboard, ask AI agent to investigate, see SAR generated. (4) 99.99% faster detection, 80% fewer false positives. (5) Roadmap: connect to real core banking feeds, add more graph algorithms, expand to insurance/crypto AML.</a:t>
                      </a: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2658090"/>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Adaptability &amp; Flexibility (10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a:solidFill>
                            <a:srgbClr val="666666"/>
                          </a:solidFill>
                          <a:effectLst/>
                          <a:latin typeface="+mn-lt"/>
                          <a:ea typeface="+mn-ea"/>
                          <a:cs typeface="Segoe UI" panose="020B0502040204020203" pitchFamily="34" charset="0"/>
                        </a:rPr>
                        <a:t>Adaptable to: (1) Insurance fraud — same ML + rules + graph for claims fraud detection. (2) Cryptocurrency AML — blockchain transaction monitoring with the same Eventstream architecture. (3) Trade-based laundering — invoice manipulation detection using the circular flow algorithm. (4) Healthcare fraud — billing pattern anomaly detection. (5) Tax evasion — cross-border flow analysis using the Ontology graph. Architecture is pattern-agnostic — change the KQL rules and ML features, keep everything else.</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8823381"/>
                  </a:ext>
                </a:extLst>
              </a:tr>
              <a:tr h="410275">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Overall Impression (10 Points)</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a:solidFill>
                            <a:srgbClr val="666666"/>
                          </a:solidFill>
                          <a:effectLst/>
                          <a:latin typeface="+mn-lt"/>
                          <a:ea typeface="+mn-ea"/>
                          <a:cs typeface="Segoe UI" panose="020B0502040204020203" pitchFamily="34" charset="0"/>
                        </a:rPr>
                        <a:t>Complete working system: 20 components built in 2 days on a single Microsoft Fabric platform. Every component demonstrated live — not screenshots, not mockups. 28 Postman test scenarios covering all 12 fraud typologies plus clean controls. AI agent answers any investigation question in plain English. The system learns from analyst decisions and gets smarter over time. This is not a POC — this is a production-ready architecture.</a:t>
                      </a:r>
                      <a:endParaRPr lang="en-US" sz="1000" b="0" i="0" u="none" strike="noStrike" kern="120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1535938"/>
                  </a:ext>
                </a:extLst>
              </a:tr>
              <a:tr h="410275">
                <a:tc>
                  <a:txBody>
                    <a:bodyPr/>
                    <a:lstStyle/>
                    <a:p>
                      <a:pPr marL="50800" indent="0" algn="l" defTabSz="914400" rtl="0" eaLnBrk="1" fontAlgn="t" latinLnBrk="0" hangingPunct="1">
                        <a:buNone/>
                      </a:pPr>
                      <a:endParaRPr lang="en-US" sz="1000" b="1" i="0" u="none" strike="noStrike" kern="1200" dirty="0">
                        <a:solidFill>
                          <a:schemeClr val="tx1"/>
                        </a:solidFill>
                        <a:effectLst/>
                        <a:latin typeface="+mn-lt"/>
                        <a:ea typeface="+mn-ea"/>
                        <a:cs typeface="Segoe UI" panose="020B0502040204020203" pitchFamily="34" charset="0"/>
                      </a:endParaRP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tc>
                  <a:txBody>
                    <a:bodyPr/>
                    <a:lstStyle/>
                    <a:p>
                      <a:pPr marL="287338" indent="-171450" algn="l" defTabSz="914400" rtl="0" eaLnBrk="1" fontAlgn="t" latinLnBrk="0" hangingPunct="1">
                        <a:buFont typeface="Arial" panose="020B0604020202020204" pitchFamily="34" charset="0"/>
                        <a:buChar char="•"/>
                      </a:pP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22800706"/>
                  </a:ext>
                </a:extLst>
              </a:tr>
              <a:tr h="733678">
                <a:tc>
                  <a:txBody>
                    <a:bodyPr/>
                    <a:lstStyle/>
                    <a:p>
                      <a:pPr marL="50800" indent="0" algn="l" defTabSz="914400" rtl="0" eaLnBrk="1" fontAlgn="t" latinLnBrk="0" hangingPunct="1">
                        <a:buNone/>
                      </a:pPr>
                      <a:r>
                        <a:rPr lang="en-US" sz="1000" b="1" i="0" u="none" strike="noStrike" kern="1200" dirty="0">
                          <a:solidFill>
                            <a:schemeClr val="tx1"/>
                          </a:solidFill>
                          <a:effectLst/>
                          <a:latin typeface="+mn-lt"/>
                          <a:ea typeface="+mn-ea"/>
                          <a:cs typeface="Segoe UI" panose="020B0502040204020203" pitchFamily="34" charset="0"/>
                        </a:rPr>
                        <a:t>Why does your POC/Tool worthy of GTM development ?</a:t>
                      </a:r>
                    </a:p>
                  </a:txBody>
                  <a:tcPr marL="1538" marR="1538" marT="15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7338" indent="-171450" algn="l" defTabSz="914400" rtl="0" eaLnBrk="1" fontAlgn="t" latinLnBrk="0" hangingPunct="1">
                        <a:buFont typeface="Arial" panose="020B0604020202020204" pitchFamily="34" charset="0"/>
                        <a:buChar char="•"/>
                      </a:pPr>
                      <a:r>
                        <a:rPr lang="en-US" sz="1000" b="0" i="1" u="none" strike="noStrike" kern="1200" dirty="0">
                          <a:solidFill>
                            <a:srgbClr val="666666"/>
                          </a:solidFill>
                          <a:effectLst/>
                          <a:latin typeface="+mn-lt"/>
                          <a:ea typeface="+mn-ea"/>
                          <a:cs typeface="Segoe UI" panose="020B0502040204020203" pitchFamily="34" charset="0"/>
                        </a:rPr>
                        <a:t>Market: Global AML compliance market is $3.5B+ and growing 15% yearly. Every bank is mandated by regulators to have AML systems. Competitive advantage: single-platform solution on Microsoft Fabric (vs 4+ separate vendor tools costing $1M+/year). Path to production: swap synthetic data for real banking feeds, connect Eventstream to core banking API, configure Teams delivery — 4-6 weeks. No additional licenses needed beyond Fabric F2.</a:t>
                      </a:r>
                      <a:endParaRPr lang="en-US" sz="1000" b="0" i="0" u="none" strike="noStrike" kern="1200" dirty="0">
                        <a:solidFill>
                          <a:schemeClr val="tx1"/>
                        </a:solidFill>
                        <a:effectLst/>
                        <a:latin typeface="+mn-lt"/>
                        <a:ea typeface="+mn-ea"/>
                        <a:cs typeface="Segoe UI" panose="020B0502040204020203"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4219842"/>
                  </a:ext>
                </a:extLst>
              </a:tr>
            </a:tbl>
          </a:graphicData>
        </a:graphic>
      </p:graphicFrame>
      <p:sp>
        <p:nvSpPr>
          <p:cNvPr id="3" name="TextBox 2">
            <a:extLst>
              <a:ext uri="{FF2B5EF4-FFF2-40B4-BE49-F238E27FC236}">
                <a16:creationId xmlns:a16="http://schemas.microsoft.com/office/drawing/2014/main" id="{7BA238B4-0ECC-1979-27D8-079F3FFA824F}"/>
              </a:ext>
            </a:extLst>
          </p:cNvPr>
          <p:cNvSpPr txBox="1"/>
          <p:nvPr/>
        </p:nvSpPr>
        <p:spPr>
          <a:xfrm>
            <a:off x="530603" y="465753"/>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rgbClr val="1A1A1A"/>
                </a:solidFill>
                <a:latin typeface="Aptos Display" panose="02110004020202020204"/>
              </a:rPr>
              <a:t>Solution Approach</a:t>
            </a:r>
            <a:endParaRPr kumimoji="0" lang="en-US" sz="2800" b="1"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spTree>
    <p:extLst>
      <p:ext uri="{BB962C8B-B14F-4D97-AF65-F5344CB8AC3E}">
        <p14:creationId xmlns:p14="http://schemas.microsoft.com/office/powerpoint/2010/main" val="2750215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8335-30D9-0938-9630-76FB93F83C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F833C3-0304-C489-0A10-120C527268CC}"/>
              </a:ext>
            </a:extLst>
          </p:cNvPr>
          <p:cNvSpPr/>
          <p:nvPr/>
        </p:nvSpPr>
        <p:spPr>
          <a:xfrm>
            <a:off x="0" y="465754"/>
            <a:ext cx="12192000"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E731104-538B-41BE-7EED-87601E3678C5}"/>
              </a:ext>
            </a:extLst>
          </p:cNvPr>
          <p:cNvSpPr txBox="1"/>
          <p:nvPr/>
        </p:nvSpPr>
        <p:spPr>
          <a:xfrm>
            <a:off x="530603" y="465753"/>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rgbClr val="1A1A1A"/>
                </a:solidFill>
                <a:latin typeface="Aptos Display" panose="02110004020202020204"/>
              </a:rPr>
              <a:t>Demo Video &amp; Pitch Best Practices</a:t>
            </a:r>
            <a:endParaRPr kumimoji="0" lang="en-US" sz="2800" b="1"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sp>
        <p:nvSpPr>
          <p:cNvPr id="10" name="TextBox 9"/>
          <p:cNvSpPr txBox="1"/>
          <p:nvPr/>
        </p:nvSpPr>
        <p:spPr>
          <a:xfrm>
            <a:off x="530603" y="1478658"/>
            <a:ext cx="8672391" cy="3939540"/>
          </a:xfrm>
          <a:prstGeom prst="rect">
            <a:avLst/>
          </a:prstGeom>
          <a:noFill/>
        </p:spPr>
        <p:txBody>
          <a:bodyPr wrap="square">
            <a:spAutoFit/>
          </a:bodyPr>
          <a:lstStyle/>
          <a:p>
            <a:pPr algn="l">
              <a:buNone/>
            </a:pPr>
            <a:r>
              <a:rPr lang="en-US" sz="1400" b="1" dirty="0">
                <a:solidFill>
                  <a:schemeClr val="accent1"/>
                </a:solidFill>
                <a:latin typeface="+mn-lt"/>
              </a:rPr>
              <a:t>Demo Video Structure (Max 10 Minutes)</a:t>
            </a:r>
          </a:p>
          <a:p>
            <a:pPr marL="287338" indent="-171450" algn="l">
              <a:buFont typeface="Arial" panose="020B0604020202020204" pitchFamily="34" charset="0"/>
              <a:buChar char="•"/>
            </a:pPr>
            <a:r>
              <a:rPr lang="en-US" sz="1200" dirty="0">
                <a:solidFill>
                  <a:schemeClr val="tx1"/>
                </a:solidFill>
                <a:latin typeface="+mn-lt"/>
              </a:rPr>
              <a:t>Minutes 1-2: Hook with the problem. Show the pain point with a relatable scenario</a:t>
            </a:r>
          </a:p>
          <a:p>
            <a:pPr marL="287338" indent="-171450" algn="l">
              <a:buFont typeface="Arial" panose="020B0604020202020204" pitchFamily="34" charset="0"/>
              <a:buChar char="•"/>
            </a:pPr>
            <a:r>
              <a:rPr lang="en-US" sz="1200" dirty="0">
                <a:solidFill>
                  <a:schemeClr val="tx1"/>
                </a:solidFill>
                <a:latin typeface="+mn-lt"/>
              </a:rPr>
              <a:t>Minutes 2-4: Live demo of your working solution. Show the happy path end-to-end</a:t>
            </a:r>
          </a:p>
          <a:p>
            <a:pPr marL="287338" indent="-171450" algn="l">
              <a:buFont typeface="Arial" panose="020B0604020202020204" pitchFamily="34" charset="0"/>
              <a:buChar char="•"/>
            </a:pPr>
            <a:r>
              <a:rPr lang="en-US" sz="1200" dirty="0">
                <a:solidFill>
                  <a:schemeClr val="tx1"/>
                </a:solidFill>
                <a:latin typeface="+mn-lt"/>
              </a:rPr>
              <a:t>Minutes 4-6: Architecture walkthrough. Explain your tech choices and Microsoft service integrations</a:t>
            </a:r>
          </a:p>
          <a:p>
            <a:pPr marL="287338" indent="-171450" algn="l">
              <a:buFont typeface="Arial" panose="020B0604020202020204" pitchFamily="34" charset="0"/>
              <a:buChar char="•"/>
            </a:pPr>
            <a:r>
              <a:rPr lang="en-US" sz="1200" dirty="0">
                <a:solidFill>
                  <a:schemeClr val="tx1"/>
                </a:solidFill>
                <a:latin typeface="+mn-lt"/>
              </a:rPr>
              <a:t>Minutes 6-8: Business impact and scalability. Quantify the value</a:t>
            </a:r>
          </a:p>
          <a:p>
            <a:pPr marL="287338" indent="-171450" algn="l">
              <a:buFont typeface="Arial" panose="020B0604020202020204" pitchFamily="34" charset="0"/>
              <a:buChar char="•"/>
            </a:pPr>
            <a:r>
              <a:rPr lang="en-US" sz="1200" dirty="0">
                <a:solidFill>
                  <a:schemeClr val="tx1"/>
                </a:solidFill>
                <a:latin typeface="+mn-lt"/>
              </a:rPr>
              <a:t>Minutes 8-10: Future roadmap and GTM potential. Close with a strong call to action</a:t>
            </a:r>
          </a:p>
          <a:p>
            <a:pPr algn="l">
              <a:buNone/>
            </a:pPr>
            <a:endParaRPr lang="en-US" sz="600" dirty="0"/>
          </a:p>
          <a:p>
            <a:pPr algn="l">
              <a:buNone/>
            </a:pPr>
            <a:endParaRPr lang="en-US" sz="1400" b="1" dirty="0">
              <a:solidFill>
                <a:schemeClr val="accent1"/>
              </a:solidFill>
              <a:latin typeface="+mn-lt"/>
            </a:endParaRPr>
          </a:p>
          <a:p>
            <a:pPr algn="l">
              <a:buNone/>
            </a:pPr>
            <a:r>
              <a:rPr lang="en-US" sz="1400" b="1" dirty="0">
                <a:solidFill>
                  <a:schemeClr val="accent1"/>
                </a:solidFill>
                <a:latin typeface="+mn-lt"/>
              </a:rPr>
              <a:t>Pitch Presentation Tips</a:t>
            </a:r>
          </a:p>
          <a:p>
            <a:pPr marL="287338" indent="-171450" algn="l">
              <a:buFont typeface="Arial" panose="020B0604020202020204" pitchFamily="34" charset="0"/>
              <a:buChar char="•"/>
            </a:pPr>
            <a:r>
              <a:rPr lang="en-US" sz="1200" dirty="0">
                <a:solidFill>
                  <a:schemeClr val="tx1"/>
                </a:solidFill>
                <a:latin typeface="+mn-lt"/>
              </a:rPr>
              <a:t>Lead with the “why” — start with the problem and the people affected, not the technology</a:t>
            </a:r>
          </a:p>
          <a:p>
            <a:pPr marL="287338" indent="-171450" algn="l">
              <a:buFont typeface="Arial" panose="020B0604020202020204" pitchFamily="34" charset="0"/>
              <a:buChar char="•"/>
            </a:pPr>
            <a:r>
              <a:rPr lang="en-US" sz="1200" dirty="0">
                <a:solidFill>
                  <a:schemeClr val="tx1"/>
                </a:solidFill>
                <a:latin typeface="+mn-lt"/>
              </a:rPr>
              <a:t>Use storytelling: Before vs. After your solution. Paint a clear picture of the transformation</a:t>
            </a:r>
          </a:p>
          <a:p>
            <a:pPr marL="287338" indent="-171450" algn="l">
              <a:buFont typeface="Arial" panose="020B0604020202020204" pitchFamily="34" charset="0"/>
              <a:buChar char="•"/>
            </a:pPr>
            <a:r>
              <a:rPr lang="en-US" sz="1200" dirty="0">
                <a:solidFill>
                  <a:schemeClr val="tx1"/>
                </a:solidFill>
                <a:latin typeface="+mn-lt"/>
              </a:rPr>
              <a:t>Keep slides visual and minimal — avoid text-heavy slides. Use diagrams, screenshots, and data visuals</a:t>
            </a:r>
          </a:p>
          <a:p>
            <a:pPr marL="287338" indent="-171450" algn="l">
              <a:buFont typeface="Arial" panose="020B0604020202020204" pitchFamily="34" charset="0"/>
              <a:buChar char="•"/>
            </a:pPr>
            <a:r>
              <a:rPr lang="en-US" sz="1200" dirty="0">
                <a:solidFill>
                  <a:schemeClr val="tx1"/>
                </a:solidFill>
                <a:latin typeface="+mn-lt"/>
              </a:rPr>
              <a:t>Rehearse as a team. Assign speaking roles and practice transitions between speakers</a:t>
            </a:r>
          </a:p>
          <a:p>
            <a:pPr marL="287338" indent="-171450" algn="l">
              <a:buFont typeface="Arial" panose="020B0604020202020204" pitchFamily="34" charset="0"/>
              <a:buChar char="•"/>
            </a:pPr>
            <a:r>
              <a:rPr lang="en-US" sz="1200" dirty="0">
                <a:solidFill>
                  <a:schemeClr val="tx1"/>
                </a:solidFill>
                <a:latin typeface="+mn-lt"/>
              </a:rPr>
              <a:t>End with confidence — summarize key value, restate the problem-solution fit, and outline next steps</a:t>
            </a:r>
          </a:p>
          <a:p>
            <a:pPr algn="l">
              <a:buNone/>
            </a:pPr>
            <a:endParaRPr lang="en-US" sz="600" dirty="0"/>
          </a:p>
          <a:p>
            <a:pPr algn="l">
              <a:buNone/>
            </a:pPr>
            <a:endParaRPr lang="en-US" sz="1400" b="1" dirty="0">
              <a:solidFill>
                <a:schemeClr val="accent1"/>
              </a:solidFill>
              <a:latin typeface="+mn-lt"/>
            </a:endParaRPr>
          </a:p>
          <a:p>
            <a:pPr algn="l">
              <a:buNone/>
            </a:pPr>
            <a:r>
              <a:rPr lang="en-US" sz="1400" b="1" dirty="0">
                <a:solidFill>
                  <a:schemeClr val="accent1"/>
                </a:solidFill>
                <a:latin typeface="+mn-lt"/>
              </a:rPr>
              <a:t>Scoring Maximizer Checklist</a:t>
            </a:r>
          </a:p>
          <a:p>
            <a:pPr marL="287338" indent="-171450" algn="l">
              <a:buFont typeface="Arial" panose="020B0604020202020204" pitchFamily="34" charset="0"/>
              <a:buChar char="•"/>
            </a:pPr>
            <a:r>
              <a:rPr lang="en-US" sz="1200" dirty="0">
                <a:solidFill>
                  <a:schemeClr val="tx1"/>
                </a:solidFill>
                <a:latin typeface="+mn-lt"/>
              </a:rPr>
              <a:t>Relevance (20 pts): Explicit mapping between challenge statement and your solution approach</a:t>
            </a:r>
          </a:p>
          <a:p>
            <a:pPr marL="287338" indent="-171450" algn="l">
              <a:buFont typeface="Arial" panose="020B0604020202020204" pitchFamily="34" charset="0"/>
              <a:buChar char="•"/>
            </a:pPr>
            <a:r>
              <a:rPr lang="en-US" sz="1200" dirty="0">
                <a:solidFill>
                  <a:schemeClr val="tx1"/>
                </a:solidFill>
                <a:latin typeface="+mn-lt"/>
              </a:rPr>
              <a:t>UX (15 pts) + Impact (15 pts): Show a user-friendly interface with measurable outcomes</a:t>
            </a:r>
          </a:p>
          <a:p>
            <a:pPr marL="287338" indent="-171450" algn="l">
              <a:buFont typeface="Arial" panose="020B0604020202020204" pitchFamily="34" charset="0"/>
              <a:buChar char="•"/>
            </a:pPr>
            <a:r>
              <a:rPr lang="en-US" sz="1200" dirty="0">
                <a:solidFill>
                  <a:schemeClr val="tx1"/>
                </a:solidFill>
                <a:latin typeface="+mn-lt"/>
              </a:rPr>
              <a:t>Innovation (10 pts) + Tech (10 pts): Novel approach with solid, well-integrated Microsoft stack</a:t>
            </a:r>
          </a:p>
          <a:p>
            <a:pPr marL="287338" indent="-171450" algn="l">
              <a:buFont typeface="Arial" panose="020B0604020202020204" pitchFamily="34" charset="0"/>
              <a:buChar char="•"/>
            </a:pPr>
            <a:r>
              <a:rPr lang="en-US" sz="1200" dirty="0">
                <a:solidFill>
                  <a:schemeClr val="tx1"/>
                </a:solidFill>
                <a:latin typeface="+mn-lt"/>
              </a:rPr>
              <a:t>Adaptability (10 pts) + Overall (10 pts): Show extensibility and leave a lasting impression</a:t>
            </a:r>
          </a:p>
        </p:txBody>
      </p:sp>
    </p:spTree>
    <p:extLst>
      <p:ext uri="{BB962C8B-B14F-4D97-AF65-F5344CB8AC3E}">
        <p14:creationId xmlns:p14="http://schemas.microsoft.com/office/powerpoint/2010/main" val="3745689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8335-30D9-0938-9630-76FB93F83C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731104-538B-41BE-7EED-87601E3678C5}"/>
              </a:ext>
            </a:extLst>
          </p:cNvPr>
          <p:cNvSpPr txBox="1"/>
          <p:nvPr/>
        </p:nvSpPr>
        <p:spPr>
          <a:xfrm>
            <a:off x="530603" y="465753"/>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rgbClr val="1A1A1A"/>
                </a:solidFill>
                <a:latin typeface="Aptos Display" panose="02110004020202020204"/>
              </a:rPr>
              <a:t>References/Screenshots</a:t>
            </a:r>
            <a:endParaRPr kumimoji="0" lang="en-US" sz="2800" b="1" i="0" u="none" strike="noStrike" kern="1200" cap="none" spc="0" normalizeH="0" baseline="0" noProof="0" dirty="0">
              <a:ln>
                <a:noFill/>
              </a:ln>
              <a:solidFill>
                <a:srgbClr val="1A1A1A"/>
              </a:solidFill>
              <a:effectLst/>
              <a:uLnTx/>
              <a:uFillTx/>
              <a:latin typeface="Aptos Display" panose="02110004020202020204"/>
              <a:ea typeface="+mn-ea"/>
              <a:cs typeface="+mn-cs"/>
            </a:endParaRPr>
          </a:p>
        </p:txBody>
      </p:sp>
    </p:spTree>
    <p:extLst>
      <p:ext uri="{BB962C8B-B14F-4D97-AF65-F5344CB8AC3E}">
        <p14:creationId xmlns:p14="http://schemas.microsoft.com/office/powerpoint/2010/main" val="3745689069"/>
      </p:ext>
    </p:extLst>
  </p:cSld>
  <p:clrMapOvr>
    <a:masterClrMapping/>
  </p:clrMapOvr>
</p:sld>
</file>

<file path=ppt/theme/theme1.xml><?xml version="1.0" encoding="utf-8"?>
<a:theme xmlns:a="http://schemas.openxmlformats.org/drawingml/2006/main" name="Office Theme">
  <a:themeElements>
    <a:clrScheme name="LTM_March 2026">
      <a:dk1>
        <a:srgbClr val="1A1A1A"/>
      </a:dk1>
      <a:lt1>
        <a:srgbClr val="FFFFFF"/>
      </a:lt1>
      <a:dk2>
        <a:srgbClr val="4C4E4F"/>
      </a:dk2>
      <a:lt2>
        <a:srgbClr val="E3E3E3"/>
      </a:lt2>
      <a:accent1>
        <a:srgbClr val="FF5E4F"/>
      </a:accent1>
      <a:accent2>
        <a:srgbClr val="559BB5"/>
      </a:accent2>
      <a:accent3>
        <a:srgbClr val="482475"/>
      </a:accent3>
      <a:accent4>
        <a:srgbClr val="F8FFC8"/>
      </a:accent4>
      <a:accent5>
        <a:srgbClr val="C1C1C1"/>
      </a:accent5>
      <a:accent6>
        <a:srgbClr val="34754D"/>
      </a:accent6>
      <a:hlink>
        <a:srgbClr val="004B86"/>
      </a:hlink>
      <a:folHlink>
        <a:srgbClr val="99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C5B18212111DD4E972B02016F5D797C" ma:contentTypeVersion="21" ma:contentTypeDescription="Create a new document." ma:contentTypeScope="" ma:versionID="3afbd90cbdc0939804adb136d66b0736">
  <xsd:schema xmlns:xsd="http://www.w3.org/2001/XMLSchema" xmlns:xs="http://www.w3.org/2001/XMLSchema" xmlns:p="http://schemas.microsoft.com/office/2006/metadata/properties" xmlns:ns1="http://schemas.microsoft.com/sharepoint/v3" xmlns:ns3="6ef4bce3-1b5c-4ad9-bbf6-ec9f652c17a9" xmlns:ns4="1e7b39a1-4df1-480c-b954-7da1a40710c4" targetNamespace="http://schemas.microsoft.com/office/2006/metadata/properties" ma:root="true" ma:fieldsID="12d6ba3c21a03791a73dccffd5415542" ns1:_="" ns3:_="" ns4:_="">
    <xsd:import namespace="http://schemas.microsoft.com/sharepoint/v3"/>
    <xsd:import namespace="6ef4bce3-1b5c-4ad9-bbf6-ec9f652c17a9"/>
    <xsd:import namespace="1e7b39a1-4df1-480c-b954-7da1a40710c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f4bce3-1b5c-4ad9-bbf6-ec9f652c17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e7b39a1-4df1-480c-b954-7da1a40710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6ef4bce3-1b5c-4ad9-bbf6-ec9f652c17a9"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C54E36E1-9952-432C-A7F5-84B268E890BB}">
  <ds:schemaRefs>
    <ds:schemaRef ds:uri="http://schemas.microsoft.com/sharepoint/v3/contenttype/forms"/>
  </ds:schemaRefs>
</ds:datastoreItem>
</file>

<file path=customXml/itemProps2.xml><?xml version="1.0" encoding="utf-8"?>
<ds:datastoreItem xmlns:ds="http://schemas.openxmlformats.org/officeDocument/2006/customXml" ds:itemID="{84EBD496-94DE-4C45-B417-05328C9967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ef4bce3-1b5c-4ad9-bbf6-ec9f652c17a9"/>
    <ds:schemaRef ds:uri="1e7b39a1-4df1-480c-b954-7da1a40710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7C65AD-D66C-409B-A970-B33FB8F988FF}">
  <ds:schemaRefs>
    <ds:schemaRef ds:uri="http://schemas.microsoft.com/sharepoint/v3"/>
    <ds:schemaRef ds:uri="http://www.w3.org/XML/1998/namespace"/>
    <ds:schemaRef ds:uri="http://purl.org/dc/terms/"/>
    <ds:schemaRef ds:uri="http://schemas.microsoft.com/office/2006/documentManagement/types"/>
    <ds:schemaRef ds:uri="http://schemas.microsoft.com/office/infopath/2007/PartnerControls"/>
    <ds:schemaRef ds:uri="1e7b39a1-4df1-480c-b954-7da1a40710c4"/>
    <ds:schemaRef ds:uri="6ef4bce3-1b5c-4ad9-bbf6-ec9f652c17a9"/>
    <ds:schemaRef ds:uri="http://purl.org/dc/elements/1.1/"/>
    <ds:schemaRef ds:uri="http://schemas.openxmlformats.org/package/2006/metadata/core-propertie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TotalTime>
  <Words>939</Words>
  <Application>Microsoft Office PowerPoint</Application>
  <PresentationFormat>Widescreen</PresentationFormat>
  <Paragraphs>111</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Arial</vt:lpstr>
      <vt:lpstr>ES Klarheit Grotesk</vt:lpstr>
      <vt:lpstr>ES Klarheit Grotesk Lt</vt:lpstr>
      <vt:lpstr>Segoe Sans Display Semibold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Liz Torres-Ramirez</dc:creator>
  <cp:lastModifiedBy>Rajdeep Das</cp:lastModifiedBy>
  <cp:revision>4</cp:revision>
  <dcterms:created xsi:type="dcterms:W3CDTF">2026-05-05T19:09:33Z</dcterms:created>
  <dcterms:modified xsi:type="dcterms:W3CDTF">2026-06-09T13:33:42Z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0x010100FC5B18212111DD4E972B02016F5D797C</vt:lpwstr>
  </property>
</Properties>
</file>